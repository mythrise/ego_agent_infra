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c66260fba04e99" /><Relationship Type="http://schemas.openxmlformats.org/officeDocument/2006/relationships/extended-properties" Target="/docProps/app.xml" Id="R707fb38138f14d69" /><Relationship Type="http://schemas.openxmlformats.org/officeDocument/2006/relationships/officeDocument" Target="/ppt/presentation.xml" Id="R78752c6fb46046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b30b48be444003"/>
    <p:sldMasterId xmlns:r="http://schemas.openxmlformats.org/officeDocument/2006/relationships" id="2147483650" r:id="R825c415223e94fd9"/>
  </p:sldMasterIdLst>
  <p:notesMasterIdLst>
    <p:notesMasterId xmlns:r="http://schemas.openxmlformats.org/officeDocument/2006/relationships" r:id="Re102eb79ca5441e8"/>
  </p:notesMasterIdLst>
  <p:sldIdLst>
    <p:sldId xmlns:r="http://schemas.openxmlformats.org/officeDocument/2006/relationships" id="256" r:id="Rccf5767554ff4dfd"/>
    <p:sldId xmlns:r="http://schemas.openxmlformats.org/officeDocument/2006/relationships" id="257" r:id="Rc9733a67d237438b"/>
    <p:sldId xmlns:r="http://schemas.openxmlformats.org/officeDocument/2006/relationships" id="258" r:id="R4ecbf18ad4ad4ddf"/>
    <p:sldId xmlns:r="http://schemas.openxmlformats.org/officeDocument/2006/relationships" id="259" r:id="R8e814a2d51da404b"/>
    <p:sldId xmlns:r="http://schemas.openxmlformats.org/officeDocument/2006/relationships" id="260" r:id="Rc4c4156e026a4641"/>
    <p:sldId xmlns:r="http://schemas.openxmlformats.org/officeDocument/2006/relationships" id="261" r:id="R10e8afaecc634ec2"/>
    <p:sldId xmlns:r="http://schemas.openxmlformats.org/officeDocument/2006/relationships" id="262" r:id="Rcd15773153194308"/>
    <p:sldId xmlns:r="http://schemas.openxmlformats.org/officeDocument/2006/relationships" id="263" r:id="R6202b7dbdfdf441d"/>
    <p:sldId xmlns:r="http://schemas.openxmlformats.org/officeDocument/2006/relationships" id="264" r:id="R071346e44d7c4ab2"/>
    <p:sldId xmlns:r="http://schemas.openxmlformats.org/officeDocument/2006/relationships" id="265" r:id="R1beac0bdd5234ca6"/>
    <p:sldId xmlns:r="http://schemas.openxmlformats.org/officeDocument/2006/relationships" id="266" r:id="R7d7e96832d91441f"/>
    <p:sldId xmlns:r="http://schemas.openxmlformats.org/officeDocument/2006/relationships" id="267" r:id="Rbc3a6fe56f994fd7"/>
    <p:sldId xmlns:r="http://schemas.openxmlformats.org/officeDocument/2006/relationships" id="268" r:id="Rc38c3fd411fa4759"/>
    <p:sldId xmlns:r="http://schemas.openxmlformats.org/officeDocument/2006/relationships" id="269" r:id="Raa71ecbff4a1463f"/>
    <p:sldId xmlns:r="http://schemas.openxmlformats.org/officeDocument/2006/relationships" id="270" r:id="R261e189470914605"/>
    <p:sldId xmlns:r="http://schemas.openxmlformats.org/officeDocument/2006/relationships" id="271" r:id="R70bf43aa71334e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eed743c2f4836" /><Relationship Type="http://schemas.openxmlformats.org/officeDocument/2006/relationships/slideMaster" Target="/ppt/slideMasters/slideMaster1.xml" Id="R43b30b48be444003" /><Relationship Type="http://schemas.openxmlformats.org/officeDocument/2006/relationships/slideMaster" Target="/ppt/slideMasters/slideMaster2.xml" Id="R825c415223e94fd9" /><Relationship Type="http://schemas.openxmlformats.org/officeDocument/2006/relationships/notesMaster" Target="/ppt/notesMasters/notesMaster1.xml" Id="Re102eb79ca5441e8" /><Relationship Type="http://schemas.openxmlformats.org/officeDocument/2006/relationships/presProps" Target="/ppt/presProps.xml" Id="Re072e9f71757406b" /><Relationship Type="http://schemas.openxmlformats.org/officeDocument/2006/relationships/viewProps" Target="/ppt/viewProps.xml" Id="R7db51f91184e4c89" /><Relationship Type="http://schemas.openxmlformats.org/officeDocument/2006/relationships/tableStyles" Target="/ppt/tableStyles.xml" Id="R78875648417b44e9" /><Relationship Type="http://schemas.openxmlformats.org/officeDocument/2006/relationships/slide" Target="/ppt/slides/slide1.xml" Id="Rccf5767554ff4dfd" /><Relationship Type="http://schemas.openxmlformats.org/officeDocument/2006/relationships/slide" Target="/ppt/slides/slide2.xml" Id="Rc9733a67d237438b" /><Relationship Type="http://schemas.openxmlformats.org/officeDocument/2006/relationships/slide" Target="/ppt/slides/slide3.xml" Id="R4ecbf18ad4ad4ddf" /><Relationship Type="http://schemas.openxmlformats.org/officeDocument/2006/relationships/slide" Target="/ppt/slides/slide4.xml" Id="R8e814a2d51da404b" /><Relationship Type="http://schemas.openxmlformats.org/officeDocument/2006/relationships/slide" Target="/ppt/slides/slide5.xml" Id="Rc4c4156e026a4641" /><Relationship Type="http://schemas.openxmlformats.org/officeDocument/2006/relationships/slide" Target="/ppt/slides/slide6.xml" Id="R10e8afaecc634ec2" /><Relationship Type="http://schemas.openxmlformats.org/officeDocument/2006/relationships/slide" Target="/ppt/slides/slide7.xml" Id="Rcd15773153194308" /><Relationship Type="http://schemas.openxmlformats.org/officeDocument/2006/relationships/slide" Target="/ppt/slides/slide8.xml" Id="R6202b7dbdfdf441d" /><Relationship Type="http://schemas.openxmlformats.org/officeDocument/2006/relationships/slide" Target="/ppt/slides/slide9.xml" Id="R071346e44d7c4ab2" /><Relationship Type="http://schemas.openxmlformats.org/officeDocument/2006/relationships/slide" Target="/ppt/slides/slide10.xml" Id="R1beac0bdd5234ca6" /><Relationship Type="http://schemas.openxmlformats.org/officeDocument/2006/relationships/slide" Target="/ppt/slides/slide11.xml" Id="R7d7e96832d91441f" /><Relationship Type="http://schemas.openxmlformats.org/officeDocument/2006/relationships/slide" Target="/ppt/slides/slide12.xml" Id="Rbc3a6fe56f994fd7" /><Relationship Type="http://schemas.openxmlformats.org/officeDocument/2006/relationships/slide" Target="/ppt/slides/slide13.xml" Id="Rc38c3fd411fa4759" /><Relationship Type="http://schemas.openxmlformats.org/officeDocument/2006/relationships/slide" Target="/ppt/slides/slide14.xml" Id="Raa71ecbff4a1463f" /><Relationship Type="http://schemas.openxmlformats.org/officeDocument/2006/relationships/slide" Target="/ppt/slides/slide15.xml" Id="R261e189470914605" /><Relationship Type="http://schemas.openxmlformats.org/officeDocument/2006/relationships/slide" Target="/ppt/slides/slide16.xml" Id="R70bf43aa7133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6589f066f3543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25942d2651414b" /><Relationship Type="http://schemas.openxmlformats.org/officeDocument/2006/relationships/notesMaster" Target="/ppt/notesMasters/notesMaster1.xml" Id="R549383b9bf0f41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4d90a00b294beb" /><Relationship Type="http://schemas.openxmlformats.org/officeDocument/2006/relationships/notesMaster" Target="/ppt/notesMasters/notesMaster1.xml" Id="R0393866023b74f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9d6982280f42b1" /><Relationship Type="http://schemas.openxmlformats.org/officeDocument/2006/relationships/notesMaster" Target="/ppt/notesMasters/notesMaster1.xml" Id="Rec568f9e8d5043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f5967a70c24473" /><Relationship Type="http://schemas.openxmlformats.org/officeDocument/2006/relationships/notesMaster" Target="/ppt/notesMasters/notesMaster1.xml" Id="Rc805522c27e548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9f5d81b0974f90" /><Relationship Type="http://schemas.openxmlformats.org/officeDocument/2006/relationships/notesMaster" Target="/ppt/notesMasters/notesMaster1.xml" Id="Rb06ca4dc36484d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878248a6814d16" /><Relationship Type="http://schemas.openxmlformats.org/officeDocument/2006/relationships/notesMaster" Target="/ppt/notesMasters/notesMaster1.xml" Id="Rd2dbe85365cf4d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211ca85e174714" /><Relationship Type="http://schemas.openxmlformats.org/officeDocument/2006/relationships/notesMaster" Target="/ppt/notesMasters/notesMaster1.xml" Id="R84a09908b3b44c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f55c236b0b440e" /><Relationship Type="http://schemas.openxmlformats.org/officeDocument/2006/relationships/notesMaster" Target="/ppt/notesMasters/notesMaster1.xml" Id="R31c13192cf154c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7be3ff0a834c18" /><Relationship Type="http://schemas.openxmlformats.org/officeDocument/2006/relationships/notesMaster" Target="/ppt/notesMasters/notesMaster1.xml" Id="R3322298b513743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72600e97164970" /><Relationship Type="http://schemas.openxmlformats.org/officeDocument/2006/relationships/notesMaster" Target="/ppt/notesMasters/notesMaster1.xml" Id="R0763c627af7c40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4db0b63223408b" /><Relationship Type="http://schemas.openxmlformats.org/officeDocument/2006/relationships/notesMaster" Target="/ppt/notesMasters/notesMaster1.xml" Id="R691fefdfb7ba45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45fe9ad6cd4b6e" /><Relationship Type="http://schemas.openxmlformats.org/officeDocument/2006/relationships/notesMaster" Target="/ppt/notesMasters/notesMaster1.xml" Id="R84916499844c40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46c260df7c49c6" /><Relationship Type="http://schemas.openxmlformats.org/officeDocument/2006/relationships/notesMaster" Target="/ppt/notesMasters/notesMaster1.xml" Id="R0aae294cf10949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cdc79a01664c64" /><Relationship Type="http://schemas.openxmlformats.org/officeDocument/2006/relationships/notesMaster" Target="/ppt/notesMasters/notesMaster1.xml" Id="R1c5007f6e2b8402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d374d950af4db1" /><Relationship Type="http://schemas.openxmlformats.org/officeDocument/2006/relationships/notesMaster" Target="/ppt/notesMasters/notesMaster1.xml" Id="Rb88ed928f3d349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56e5ba1f644dcc" /><Relationship Type="http://schemas.openxmlformats.org/officeDocument/2006/relationships/notesMaster" Target="/ppt/notesMasters/notesMaster1.xml" Id="R675498a66efa4e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submission/screenshots/semifinal-rxp-cockpit.png</a:t>
            </a:r>
          </a:p>
          <a:p xmlns:a="http://schemas.openxmlformats.org/drawingml/2006/main">
            <a:r>
              <a:t>- apps/web/src/App.tsx</a:t>
            </a:r>
          </a:p>
          <a:p xmlns:a="http://schemas.openxmlformats.org/drawingml/2006/main">
            <a:r>
              <a:t>- docs/protocols/RXP.md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20 秒：一句话定义产品；先指出截图是静态 fixture，不是伪装成 live backend。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semifinal judge feedback</a:t>
            </a:r>
          </a:p>
          <a:p xmlns:a="http://schemas.openxmlformats.org/drawingml/2006/main">
            <a:r>
              <a:t>- docs/judge-feedback-implementation.md</a:t>
            </a:r>
          </a:p>
          <a:p xmlns:a="http://schemas.openxmlformats.org/drawingml/2006/main">
            <a:r>
              <a:t>- docs/semifinal-scorecard.md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秒：两条评委意见都已落成代码与本地证据；外部 live 项仍明确标记 NOT RUN / UNVERIFIED。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docs/claims-evidence.md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25 秒：说明目标用户、四个可信断点和输入输出闭环。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docs/judge-feedback-implementation.md</a:t>
            </a:r>
          </a:p>
          <a:p xmlns:a="http://schemas.openxmlformats.org/drawingml/2006/main">
            <a:r>
              <a:t>- integrations/agentteams/README.md</a:t>
            </a:r>
          </a:p>
          <a:p xmlns:a="http://schemas.openxmlformats.org/drawingml/2006/main">
            <a:r>
              <a:t>- apps/agentteams_bridge/postgres_store.py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秒：协作、实验事实与受控动作共用同一 run_id；PostgreSQL 是 production path，SQLite 只保留 dev fallback。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docs/protocols/RXP.md</a:t>
            </a:r>
          </a:p>
          <a:p xmlns:a="http://schemas.openxmlformats.org/drawingml/2006/main">
            <a:r>
              <a:t>- protocols/rxp/schemas/</a:t>
            </a:r>
          </a:p>
          <a:p xmlns:a="http://schemas.openxmlformats.org/drawingml/2006/main">
            <a:r>
              <a:t>- tests/protocols/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45 秒：重点解释 token 是 exact-cell capability，MatrixLedger 防止选择性漏跑。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apps/agentteams_bridge/</a:t>
            </a:r>
          </a:p>
          <a:p xmlns:a="http://schemas.openxmlformats.org/drawingml/2006/main">
            <a:r>
              <a:t>- integrations/agentteams/benchmark_adapter.py</a:t>
            </a:r>
          </a:p>
          <a:p xmlns:a="http://schemas.openxmlformats.org/drawingml/2006/main">
            <a:r>
              <a:t>- tests/agentteams/</a:t>
            </a:r>
          </a:p>
          <a:p xmlns:a="http://schemas.openxmlformats.org/drawingml/2006/main">
            <a:r>
              <a:t>- docs/agentteams-live-runbook.md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40 秒：展示 PostgreSQL-backed checkpoint、完整 trace 验链与 crash/reassign；没有官方来源证明就不会升级为 live。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docs/security.md</a:t>
            </a:r>
          </a:p>
          <a:p xmlns:a="http://schemas.openxmlformats.org/drawingml/2006/main">
            <a:r>
              <a:t>- protocols/rxp/grants.py</a:t>
            </a:r>
          </a:p>
          <a:p xmlns:a="http://schemas.openxmlformats.org/drawingml/2006/main">
            <a:r>
              <a:t>- tests/protocols/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30 秒：同一 Agent 不能自评自证；一次 grant 只允许一个 cell。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skills/</a:t>
            </a:r>
          </a:p>
          <a:p xmlns:a="http://schemas.openxmlformats.org/drawingml/2006/main">
            <a:r>
              <a:t>- skill_runtime/</a:t>
            </a:r>
          </a:p>
          <a:p xmlns:a="http://schemas.openxmlformats.org/drawingml/2006/main">
            <a:r>
              <a:t>- tests/skills/test_runtime_registry.py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秒：现场 list / invoke；再调用 SafeRunner 展示 E_NOT_EXECUTABLE。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protocols/rxp/demo.py</a:t>
            </a:r>
          </a:p>
          <a:p xmlns:a="http://schemas.openxmlformats.org/drawingml/2006/main">
            <a:r>
              <a:t>- protocols/rxp/ledger.py</a:t>
            </a:r>
          </a:p>
          <a:p xmlns:a="http://schemas.openxmlformats.org/drawingml/2006/main">
            <a:r>
              <a:t>- protocols/rxp/evidence.py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秒：展示 2/2 完整矩阵和 23-entry ledger；重放同一 token 必须失败。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submission/screenshots/semifinal-rxp-cockpit.png</a:t>
            </a:r>
          </a:p>
          <a:p xmlns:a="http://schemas.openxmlformats.org/drawingml/2006/main">
            <a:r>
              <a:t>- apps/web/src/rxpDemoData.ts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30 秒：在界面中点 baseline / candidate，查看每格 Intent、Grant、Receipt、Decision digest。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benchmarks/corpus/v1/scenarios.json</a:t>
            </a:r>
          </a:p>
          <a:p xmlns:a="http://schemas.openxmlformats.org/drawingml/2006/main">
            <a:r>
              <a:t>- benchmarks/oracle.py</a:t>
            </a:r>
          </a:p>
          <a:p xmlns:a="http://schemas.openxmlformats.org/drawingml/2006/main">
            <a:r>
              <a:t>- benchmarks/trace_verifier.py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30 秒：注入一个 fault；观察 route 或 verdict 改变，不能只看脚本退出码。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submission/verification-report.md</a:t>
            </a:r>
          </a:p>
          <a:p xmlns:a="http://schemas.openxmlformats.org/drawingml/2006/main">
            <a:r>
              <a:t>- docs/evidence/postgres-local-proof-2026-08-29.md</a:t>
            </a:r>
          </a:p>
          <a:p xmlns:a="http://schemas.openxmlformats.org/drawingml/2006/main">
            <a:r>
              <a:t>- benchmarks/artifacts/</a:t>
            </a:r>
          </a:p>
          <a:p xmlns:a="http://schemas.openxmlformats.org/drawingml/2006/main">
            <a:r>
              <a:t>- semifinal_acceptance/README.md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秒：默认 210 与独立 PG 27 分开计数；任何 official AgentTeams、GPU 或 PolarDB live 结论都不从本地测试外推。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benchmarks/README.md</a:t>
            </a:r>
          </a:p>
          <a:p xmlns:a="http://schemas.openxmlformats.org/drawingml/2006/main">
            <a:r>
              <a:t>- docs/state-machine.md</a:t>
            </a:r>
          </a:p>
          <a:p xmlns:a="http://schemas.openxmlformats.org/drawingml/2006/main">
            <a:r>
              <a:t>- tests/benchmarks/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35 秒：四类故障都必须有结构化终态、恢复动作和相同 correlation。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apps/api/postgres_store.py</a:t>
            </a:r>
          </a:p>
          <a:p xmlns:a="http://schemas.openxmlformats.org/drawingml/2006/main">
            <a:r>
              <a:t>- apps/api/polardb_preflight.py</a:t>
            </a:r>
          </a:p>
          <a:p xmlns:a="http://schemas.openxmlformats.org/drawingml/2006/main">
            <a:r>
              <a:t>- deploy/postgres/security_roles.sql</a:t>
            </a:r>
          </a:p>
          <a:p xmlns:a="http://schemas.openxmlformats.org/drawingml/2006/main">
            <a:r>
              <a:t>- docs/postgres-recovery-runbook.md</a:t>
            </a:r>
          </a:p>
          <a:p xmlns:a="http://schemas.openxmlformats.org/drawingml/2006/main">
            <a:r>
              <a:t>- docs/polardb-live-acceptance-runbook.md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30 秒：本地 PostgreSQL 16.14 已验证 27 项；PolarDB、PITR、读写分离和 failover 只能由云端报告升级状态。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docs/claims-evidence.md</a:t>
            </a:r>
          </a:p>
          <a:p xmlns:a="http://schemas.openxmlformats.org/drawingml/2006/main">
            <a:r>
              <a:t>- docs/judge-feedback-implementation.md</a:t>
            </a:r>
          </a:p>
          <a:p xmlns:a="http://schemas.openxmlformats.org/drawingml/2006/main">
            <a:r>
              <a:t>- semifinal_acceptance/README.md</a:t>
            </a:r>
          </a:p>
          <a:p xmlns:a="http://schemas.openxmlformats.org/drawingml/2006/main">
            <a:r>
              <a:t>- submission/semifinal-evidence-index.md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25 秒：把已运行、合同已验证与外部 NOT RUN 分层；一键包也不会把 operator assertion 冒充可认证 origin。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docs/judge-feedback-implementation.md</a:t>
            </a:r>
          </a:p>
          <a:p xmlns:a="http://schemas.openxmlformats.org/drawingml/2006/main">
            <a:r>
              <a:t>- docs/agentteams-live-runbook.md</a:t>
            </a:r>
          </a:p>
          <a:p xmlns:a="http://schemas.openxmlformats.org/drawingml/2006/main">
            <a:r>
              <a:t>- docs/polardb-live-acceptance-runbook.md</a:t>
            </a:r>
          </a:p>
          <a:p xmlns:a="http://schemas.openxmlformats.org/drawingml/2006/main">
            <a:r>
              <a:t>- submission/demo-script-8min.md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[Talk track]</a:t>
            </a:r>
          </a:p>
          <a:p xmlns:a="http://schemas.openxmlformats.org/drawingml/2006/main">
            <a:r>
              <a:t>20 秒：先复现本地合同，再说明 live acceptance 需要同一 run 的官方协作、GPU、数据库与恢复证据。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cdcf7c1d74f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567c19c21d4e8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5438c974c54fba" /><Relationship Type="http://schemas.openxmlformats.org/officeDocument/2006/relationships/slideLayout" Target="/ppt/slideLayouts/slideLayout1.xml" Id="Re440ee11f557419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9a3442f783b4e5e" /><Relationship Type="http://schemas.openxmlformats.org/officeDocument/2006/relationships/slideLayout" Target="/ppt/slideLayouts/slideLayout2.xml" Id="R5d34c1d28d5f416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40ee11f557419a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5d34c1d28d5f4163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4fbe421234aec" /><Relationship Type="http://schemas.openxmlformats.org/officeDocument/2006/relationships/image" Target="/ppt/media/image.png" Id="R0c1e4fd9713a43ca" /><Relationship Type="http://schemas.openxmlformats.org/officeDocument/2006/relationships/notesSlide" Target="/ppt/notesSlides/notesSlide1.xml" Id="Rc913abe5f3204f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a6d0b4d8d4f65" /><Relationship Type="http://schemas.openxmlformats.org/officeDocument/2006/relationships/notesSlide" Target="/ppt/notesSlides/notesSlide2.xml" Id="R26eeb3d9fff24d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2133221f54ba5" /><Relationship Type="http://schemas.openxmlformats.org/officeDocument/2006/relationships/notesSlide" Target="/ppt/notesSlides/notesSlide3.xml" Id="R863070445f3946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628605fb04f53" /><Relationship Type="http://schemas.openxmlformats.org/officeDocument/2006/relationships/notesSlide" Target="/ppt/notesSlides/notesSlide4.xml" Id="R7c2aae70d3674e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d46fb5fda4e1d" /><Relationship Type="http://schemas.openxmlformats.org/officeDocument/2006/relationships/notesSlide" Target="/ppt/notesSlides/notesSlide5.xml" Id="R7757882120ec47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20299e4654ba6" /><Relationship Type="http://schemas.openxmlformats.org/officeDocument/2006/relationships/notesSlide" Target="/ppt/notesSlides/notesSlide6.xml" Id="R11635fcf7b644e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73676b94948a9" /><Relationship Type="http://schemas.openxmlformats.org/officeDocument/2006/relationships/notesSlide" Target="/ppt/notesSlides/notesSlide7.xml" Id="R395249a47fb34f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3d28b60c64db8" /><Relationship Type="http://schemas.openxmlformats.org/officeDocument/2006/relationships/notesSlide" Target="/ppt/notesSlides/notesSlide8.xml" Id="R9d71286de5b34e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582bd989b48f9" /><Relationship Type="http://schemas.openxmlformats.org/officeDocument/2006/relationships/notesSlide" Target="/ppt/notesSlides/notesSlide9.xml" Id="R903caebc19684e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309eda70541db" /><Relationship Type="http://schemas.openxmlformats.org/officeDocument/2006/relationships/image" Target="/ppt/media/image.png" Id="Rad0a05b33c114937" /><Relationship Type="http://schemas.openxmlformats.org/officeDocument/2006/relationships/image" Target="/ppt/media/image2.png" Id="R86969d29c77a44b7" /><Relationship Type="http://schemas.openxmlformats.org/officeDocument/2006/relationships/notesSlide" Target="/ppt/notesSlides/notesSlide10.xml" Id="R1addbecd584c4a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f9148c9de4253" /><Relationship Type="http://schemas.openxmlformats.org/officeDocument/2006/relationships/image" Target="/ppt/media/image.png" Id="R10f2c1dfca26439a" /><Relationship Type="http://schemas.openxmlformats.org/officeDocument/2006/relationships/image" Target="/ppt/media/image3.png" Id="R42ca7623c4e04f81" /><Relationship Type="http://schemas.openxmlformats.org/officeDocument/2006/relationships/notesSlide" Target="/ppt/notesSlides/notesSlide11.xml" Id="R2d73fb692c7a48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1d15d2b6a442f" /><Relationship Type="http://schemas.openxmlformats.org/officeDocument/2006/relationships/notesSlide" Target="/ppt/notesSlides/notesSlide12.xml" Id="R191707f1217643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9aae0621741df" /><Relationship Type="http://schemas.openxmlformats.org/officeDocument/2006/relationships/notesSlide" Target="/ppt/notesSlides/notesSlide13.xml" Id="Rf6a3ed17095042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5219edab74b3e" /><Relationship Type="http://schemas.openxmlformats.org/officeDocument/2006/relationships/notesSlide" Target="/ppt/notesSlides/notesSlide14.xml" Id="Rea7e4c74dc4540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448ad36384732" /><Relationship Type="http://schemas.openxmlformats.org/officeDocument/2006/relationships/notesSlide" Target="/ppt/notesSlides/notesSlide15.xml" Id="R8d3075e3a71f49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7b4f111434828" /><Relationship Type="http://schemas.openxmlformats.org/officeDocument/2006/relationships/notesSlide" Target="/ppt/notesSlides/notesSlide16.xml" Id="R59b1d15c24724f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E78AA6-92DB-4A4E-9090-EE2A55AD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D04D92-8485-4CFC-8E84-C249BD6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A715E5-54B0-48D1-9253-A1AF6F4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BE5C3-2C8E-4999-8930-224C950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GOAI 2026 复赛｜Agent Infra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8CEEB8-FA1A-488C-9510-D7CCBC9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383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EgoAgentOS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ResearchOps / RXP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A2F30C-8906-4B69-BAEA-B0C845B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rPr>
              <a:t>吕新科 · 北京邮电大学 · 智能科学与技术</a:t>
            </a:r>
            <a:endParaRPr sz="975">
              <a:solidFill>
                <a:srgbClr val="A9B2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2D3AD9B-8920-439C-9142-87DB2CD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9572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让 Auto Research 从黑盒对话变成可签发、可验收、可重放的实验协议</a:t>
            </a:r>
            <a:endParaRPr sz="13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e4fd9713a43ca"/>
          <a:srcRect xmlns:a="http://schemas.openxmlformats.org/drawingml/2006/main" l="2642" t="0" r="26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3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31E70D-6393-44A9-B2C3-8E7B5700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P0 · 复赛评委意见闭环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3E73B4-3626-4539-A7FC-E37178B4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从 local proof 升级为 protocol + production-ready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DED1FC2-193A-4B9F-8D1F-C4D54516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7807FFF-49F2-4DD3-A5A7-CE0D5989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8E8570-AE40-49A9-A07A-B59A97B3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01 · 协作证据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C996F51-0EF7-4CE9-A556-5A2DAF6F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Official AgentTeams · 4 Worker resources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69DB30-8ADC-4D0E-A7CF-C1757C1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Controller / Manager / Team / Matrix · LIVE_LOCAL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970162B-D874-45D5-9B3A-07B38534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8E4F5D4-2F6D-4196-8A95-950CA304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C15DA15-8BDC-4688-93CF-E6BA5C3C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02 · 数据底座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4786F9-162C-499D-98A8-0F15B1B8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PostgreSQL control plane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1FBBB8A-FF21-4A47-B183-B1B06368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4 roles · RLS · append-only · LISTEN/NOTIFY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6B0BA77-3D5E-4532-99C2-C7F172AA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A9AAD5A-6E87-4199-86A2-F3225A41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8712367-DCE6-4F93-92D2-61A11FAA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03 · 新协议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66B762D-D631-47C0-9D98-7A09D3E5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RXP/1 experiment grant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889583E-6559-40A8-8C61-1BB89CEA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Intent → Grant → Receipt → Evidence → Decision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C649240-B844-4E08-9F70-DB61C14D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441B97B1-8AEC-46B8-A393-A91D416F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3F798F6-D0FF-4D5A-B6C9-26B816F8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04 · 严格评测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C4D5E43-9A05-4458-A7AF-66043E14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14 scenarios + 8 acceptance cases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4593839-9A04-44C9-ADA7-4F5029BB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trace oracle · origin gate · recovery assertions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AD16381-4ABD-4939-B181-1EA7C9A7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687F70B-9A13-4AE4-8A32-FE7E97D7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B2435CC-54A0-4272-B58D-89D5773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05 · 评委复现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3296145-3FC0-4616-992F-AAEF1FC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Cockpit + one-click acceptance bundle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546E47A-0E5D-45C0-BA07-BD506768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static replay · local full stack · frozen evidence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B1D5EE4-D4EF-4F2B-999B-FF275069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8543959-D351-4329-9A30-694AA81B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839EBA4-1953-47C1-A2F4-F68454D4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06 · 事实边界</a:t>
            </a:r>
            <a:endParaRPr sz="12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89B09D4-FB01-41D1-A71E-2F443612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PASS / NOT RUN / UNVERIFIED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DB55E65-1635-419C-A2B2-559B93C4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 b="1" i="1">
                <a:solidFill>
                  <a:srgbClr val="E23B3B"/>
                </a:solidFill>
                <a:latin typeface="Noto Sans CJK SC"/>
                <a:ea typeface="Noto Sans CJK SC"/>
                <a:cs typeface="Noto Sans CJK SC"/>
              </a:rPr>
              <a:t>workflow / GPU / Nexa / PITR 不冒认</a:t>
            </a:r>
            <a:endParaRPr sz="990" b="1" i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353BC12-5226-4FB1-9FC9-B4B09DFD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6657431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1DD2A3E-4FCF-4261-B176-A0D22133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场景 · Auto Research control gap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2802293-4C2C-4CA7-A2A4-0EA245FA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AI 会提实验，不等于实验可被相信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1B938E34-DBBA-48B4-8636-18B34ACE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面向 AI / 具身研究工程师：把一次研究意图收束为完整矩阵、一次性权限、原始证据与独立 Decision。</a:t>
            </a:r>
            <a:endParaRPr sz="112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6280A427-F5A0-4CAB-9F5C-BCEF5E15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6265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4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窄入口：EgoLite streaming perception｜控制面可执行｜workload 与模型增益仍标记 SYNTHETIC</a:t>
            </a:r>
            <a:endParaRPr sz="94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BA3E244-9D13-4EBA-B1D0-D3719A74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oundRect">
            <a:avLst>
              <a:gd name="adj" fmla="val 487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9BCD9B4-6E7A-4711-AF80-E68E32F0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" y="250507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>
              <a:alpha val="9412"/>
            </a:srgbClr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BLACK-BOX LOOP</a:t>
            </a:r>
            <a:endParaRPr sz="75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F3277F4-6DF1-4CA8-836F-9F183689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" y="2781300"/>
            <a:ext cx="52933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同一 Agent 提案、执行、算分、写结论</a:t>
            </a:r>
            <a:endParaRPr sz="1350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3E60D387-8003-4A07-95FD-4F5B9E40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10" y="3143250"/>
            <a:ext cx="5293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B2902EB8-BDAF-4745-B932-D4514085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3305175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Goal</a:t>
            </a:r>
            <a:endParaRPr sz="79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784A400A-98F9-4BBC-BF9C-4BCCEA3A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3676650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Code / config</a:t>
            </a:r>
            <a:endParaRPr sz="79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86EE2A1-773C-4394-B48F-708F6019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4048125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Dataset</a:t>
            </a:r>
            <a:endParaRPr sz="79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8817DD5A-D32D-4F52-AC19-426E0445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4419600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GPU / logs</a:t>
            </a:r>
            <a:endParaRPr sz="79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4E0B764-4346-49DF-B13C-A322C433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4791075"/>
            <a:ext cx="12573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Metric / claim</a:t>
            </a:r>
            <a:endParaRPr sz="790" b="1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930A455-7F17-48BF-A685-02C0A843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910" y="3448050"/>
            <a:ext cx="1619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能力生成 / 优化层</a:t>
            </a:r>
            <a:endParaRPr sz="10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模型 · 程序 · 轨迹</a:t>
            </a:r>
            <a:endParaRPr sz="10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78307809-2BA2-419A-984B-EE7668BA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2710" y="3286125"/>
            <a:ext cx="1790700" cy="1514475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33350" tIns="114300" rIns="114300" bIns="76200" anchor="ctr"/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可信断点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endParaRPr sz="915"/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Scope 漂移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Matrix 漏跑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自评自证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1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× Crash 后谱系断裂</a:t>
            </a:r>
            <a:endParaRPr sz="91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246" name="直接箭头连接符 56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769110" y="3433763"/>
            <a:ext cx="304800" cy="41433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47" name="直接箭头连接符 57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769110" y="3805238"/>
            <a:ext cx="304800" cy="428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48" name="直接箭头连接符 5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769110" y="3848100"/>
            <a:ext cx="304800" cy="32861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49" name="直接箭头连接符 59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769110" y="3848100"/>
            <a:ext cx="304800" cy="7000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50" name="直接箭头连接符 60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1769110" y="3848100"/>
            <a:ext cx="304800" cy="10715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251" name="直接箭头连接符 61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693160" y="3848100"/>
            <a:ext cx="209550" cy="195263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C2626"/>
            </a:solidFill>
            <a:prstDash val="solid"/>
            <a:headEnd type="arrow" w="sm" len="sm"/>
          </a:ln>
        </p:spPr>
      </p:cxn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A486546-54B4-48B9-B6E3-49589628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10" y="5132705"/>
            <a:ext cx="521716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840" b="1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真实代价不是少写几条命令，而是无法证明：谁授权、跑了哪格、证据是否齐全、失败是否改变结论。</a:t>
            </a:r>
            <a:endParaRPr sz="840" b="1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04684E51-E278-4CC1-B37A-4317002F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oundRect">
            <a:avLst>
              <a:gd name="adj" fmla="val 4914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D322541A-B046-4B9E-A9CD-9B018ECE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380" y="2505075"/>
            <a:ext cx="1104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EGOAGENTOS</a:t>
            </a:r>
            <a:endParaRPr sz="7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698E98E-3213-4483-9145-2576DE0D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380" y="2781300"/>
            <a:ext cx="520001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Research control plane</a:t>
            </a:r>
            <a:endParaRPr sz="13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78E45F5C-2040-4A07-89BF-015E1B2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320992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682D375-F0E3-4710-A2A6-D4B1370A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2004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Freeze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95D66C-E42A-48C1-B8C8-788B3C14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37185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Intent + MatrixPlan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8051D232-2E5A-4780-8258-F488D201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368617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84425B5-DAFA-4043-8F55-F3958C16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6766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Authorize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75CC727-1999-4362-B469-F074E494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384810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exact-cell one-time Grant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6A2493B4-AA73-47C7-8E76-5BBC1F25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416242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844135C-D9B4-4F9D-A47D-7464C2C3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1529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583365C-5A7D-4B65-84E2-243D8494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32435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Receipt + raw Evidence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480F118E-62DB-4403-8C84-BC48079A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4638675"/>
            <a:ext cx="400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8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779EE73-3018-41C0-8E2F-F51E687B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6291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</a:t>
            </a:r>
            <a:endParaRPr sz="97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38DCED9-C4A1-45E8-93AC-C8A5E8A6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05" y="4800600"/>
            <a:ext cx="462851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C9D4E8"/>
                </a:solidFill>
                <a:latin typeface="Noto Sans CJK SC"/>
                <a:ea typeface="Noto Sans CJK SC"/>
                <a:cs typeface="Noto Sans CJK SC"/>
              </a:rPr>
              <a:t>independent gate + replay</a:t>
            </a:r>
            <a:endParaRPr sz="790" b="0" i="0">
              <a:solidFill>
                <a:srgbClr val="C9D4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A1F6D86-D9FF-4D54-9E2F-6AF3B45D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905" y="5105400"/>
            <a:ext cx="518096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B48"/>
          </a:solidFill>
          <a:ln xmlns:a="http://schemas.openxmlformats.org/drawingml/2006/main" w="9525">
            <a:solidFill>
              <a:srgbClr val="36506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1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输入：goal / budget / policy｜输出：Decision + evidence root + reusable Skill trace</a:t>
            </a:r>
            <a:endParaRPr sz="81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844524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07074B-4C77-4552-8404-FD7963F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闭环 · 三平面架构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81FB40-2DD2-4945-B1D1-D2618B7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同一 run_id 贯穿完整实验闭环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EA5EABF-9D17-4BD9-AA44-D84A08A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F3F998AD-EFC3-435F-9457-6CE708D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AgentTeams 管动态协作；RXP 管实验事实；Skill / MCP 管受控动作；PostgreSQL 管生产持久状态。</a:t>
            </a:r>
            <a:endParaRPr sz="109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2E30D1FD-0E9B-4067-A2A5-6DDCBC79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4345"/>
            <a:ext cx="11144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192A94E-966B-49B9-BB6B-A36D1D8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INTAKE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B8E1E7A-6F51-4A30-A20E-B6356EE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336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Research Goal</a:t>
            </a:r>
            <a:endParaRPr sz="79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93E9B313-7A30-4397-9882-BEAEA7A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479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ContextBundle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4AE3CECD-F420-421A-BD7C-F9FDCD0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623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MatrixPlan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80B9B6A2-5F39-47FA-8446-38BF9BFA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Human Gate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096DC7E6-BB41-447F-9117-D277029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Decision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2F75B6C-7081-479D-B6EE-8D492D74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COLLABORATION PLANE · OFFICIAL AGENTTEAMS ADAPTER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82925637-6D42-4D83-8F44-09B9192B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05025"/>
            <a:ext cx="3638550" cy="2505075"/>
          </a:xfrm>
          <a:prstGeom xmlns:a="http://schemas.openxmlformats.org/drawingml/2006/main" prst="roundRect">
            <a:avLst>
              <a:gd name="adj" fmla="val 6084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0">
            <a:solidFill>
              <a:srgbClr val="1B1F3B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F60FE3-9A4D-4BD4-AEB1-97387F2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47900"/>
            <a:ext cx="1476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2A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Research PI / Manager</a:t>
            </a:r>
            <a:endParaRPr sz="82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6366D5D6-7962-4107-9B98-114DA5B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rPr>
              <a:t>create · decompose · delegate · accept · verify</a:t>
            </a:r>
            <a:endParaRPr sz="750" b="0" i="0">
              <a:solidFill>
                <a:srgbClr val="BFC9E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FAC2CE25-F531-46F6-B8F1-F9E87F71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Scout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45E874DB-4CAA-4DD6-B0E2-5AEEED8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CF942107-3E99-4C00-B1EA-B9B570B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B8D0D6A-809E-45C3-94E5-DB2E6E4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DD2C7FD-048E-484C-B478-49C18B17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0015C2D8-596D-4FF6-AC7A-5DDF692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Memory candidate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D7843E1C-B306-40FD-920F-FF391044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9102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rPr>
              <a:t>Project / Task / Room 可重路由；消息只携带引用，不替代 source of truth</a:t>
            </a:r>
            <a:endParaRPr sz="700" b="0" i="0">
              <a:solidFill>
                <a:srgbClr val="AEBB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1D1D9CF6-7EF1-480D-AA3D-B828B000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05025"/>
            <a:ext cx="2381250" cy="25050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2579BC7C-2C74-4F01-ACFA-3E3D84F3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57425"/>
            <a:ext cx="1143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EXPERIMENT TRUTH PLANE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A027D9D-4153-4FAA-8AF7-2D25C15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431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RXP/1</a:t>
            </a:r>
            <a:endParaRPr sz="15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椭圆 59">
            <a:extLst xmlns:a="http://schemas.openxmlformats.org/drawingml/2006/main">
              <a:ext uri="{FF2B5EF4-FFF2-40B4-BE49-F238E27FC236}">
                <a16:creationId xmlns:a16="http://schemas.microsoft.com/office/drawing/2014/main" id="{A0C1B876-48B0-43DA-9C5B-8B6C0D6B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A6768BE-2676-4AD7-85DE-FB557449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24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Intent / plan digest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椭圆 61">
            <a:extLst xmlns:a="http://schemas.openxmlformats.org/drawingml/2006/main">
              <a:ext uri="{FF2B5EF4-FFF2-40B4-BE49-F238E27FC236}">
                <a16:creationId xmlns:a16="http://schemas.microsoft.com/office/drawing/2014/main" id="{5BA93FCD-7C37-4889-9274-3AFE91A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02F3829-1AB7-48BB-A007-C9551F3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480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Grant / nonce / scope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椭圆 63">
            <a:extLst xmlns:a="http://schemas.openxmlformats.org/drawingml/2006/main">
              <a:ext uri="{FF2B5EF4-FFF2-40B4-BE49-F238E27FC236}">
                <a16:creationId xmlns:a16="http://schemas.microsoft.com/office/drawing/2014/main" id="{5F6242C8-BA66-43B9-AA80-0FE4293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4CF5400-AEC0-402E-9795-79690E50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71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Receipt / evidence root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椭圆 65">
            <a:extLst xmlns:a="http://schemas.openxmlformats.org/drawingml/2006/main">
              <a:ext uri="{FF2B5EF4-FFF2-40B4-BE49-F238E27FC236}">
                <a16:creationId xmlns:a16="http://schemas.microsoft.com/office/drawing/2014/main" id="{805C0706-9A22-49A5-A5C4-C5576035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B514D404-249F-4D60-835F-3DD1F60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957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Decision / ledger root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48C807DB-AC04-499C-84EB-6D5B97D3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Token 是能力凭证，不是聊天许可</a:t>
            </a:r>
            <a:endParaRPr sz="7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B422BB92-6C1B-48C0-B6FF-819D7C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859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SKILL &amp; TOOL PLANE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65E5CDC-ABF2-48ED-AE9B-078B09BA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002784AE-73E8-4863-981A-E60BB87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715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9620F7A9-7F06-4106-8824-860BEA1B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Discover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92EFA87-FBF7-4537-95F9-129F02E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336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6 digest-pinned Skills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CCB6277A-23C2-4DC1-86A5-4C30627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03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B9F80CF-1BCF-4195-8F3C-5275BF19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15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49F1990-80CB-405A-A7E2-CEE93A5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Invoke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E1D9CCB1-6638-4F68-8225-C7A49B1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28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3 allowlisted handlers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4302A79-0E26-43B2-A677-115AD3B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6FB0A9A-EE35-46F5-9CAD-9C1443B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1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21999327-EE43-48AB-8859-9FF707D3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F640BEC5-4880-4023-94A7-84661B7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242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typed MCP / adapter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20EF66B3-F6AE-4439-B7F4-78436E0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909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2CDECB60-19C3-4E38-8148-AB18F5EB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71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33F1CBED-F58E-4BB4-BE96-CD99BFDC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5D66D65-4433-41BB-88E8-6FE9112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195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independent oracle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圆角矩形 85">
            <a:extLst xmlns:a="http://schemas.openxmlformats.org/drawingml/2006/main">
              <a:ext uri="{FF2B5EF4-FFF2-40B4-BE49-F238E27FC236}">
                <a16:creationId xmlns:a16="http://schemas.microsoft.com/office/drawing/2014/main" id="{6BD65D80-9EB4-40D2-81C5-03666A2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862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F2D31E82-E355-47BB-8C91-3F5D712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52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D8F17514-FD67-4EB7-9308-6704009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148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Release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00081D17-0496-42DB-882A-6DA890B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148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canary / rollback / retire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699" name="直接箭头连接符 158"/>
          <p:cNvCxnSpPr>
            <a:stCxn xmlns:a="http://schemas.openxmlformats.org/drawingml/2006/main" id="41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305050"/>
            <a:ext cx="390525" cy="10525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700" name="直接箭头连接符 159"/>
          <p:cNvCxnSpPr>
            <a:stCxn xmlns:a="http://schemas.openxmlformats.org/drawingml/2006/main" id="42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819400"/>
            <a:ext cx="390525" cy="53816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701" name="直接箭头连接符 160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3333750"/>
            <a:ext cx="390525" cy="238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702" name="直接箭头连接符 161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49053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703" name="直接箭头连接符 162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100488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95" name="直接连接符 94">
            <a:extLst xmlns:a="http://schemas.openxmlformats.org/drawingml/2006/main">
              <a:ext uri="{FF2B5EF4-FFF2-40B4-BE49-F238E27FC236}">
                <a16:creationId xmlns:a16="http://schemas.microsoft.com/office/drawing/2014/main" id="{391E277F-0872-40C4-B3A9-3913179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6" name="直接连接符 95">
            <a:extLst xmlns:a="http://schemas.openxmlformats.org/drawingml/2006/main">
              <a:ext uri="{FF2B5EF4-FFF2-40B4-BE49-F238E27FC236}">
                <a16:creationId xmlns:a16="http://schemas.microsoft.com/office/drawing/2014/main" id="{071560BB-06B5-403B-99BA-FD76673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EEE141F4-F6F2-4BC3-BE66-2077EE2B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72025"/>
            <a:ext cx="906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Closure = collaboration trace · RXP ledger root · raw artifact digests · independent review</a:t>
            </a:r>
            <a:endParaRPr sz="84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639289F9-A82A-4266-8820-92756306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PostgreSQL primary · SQLite dev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31979B49-9EFF-41AD-8012-C66C873B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append-only evidence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718051BF-0706-49C2-88F8-48AC2DD6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correlated trace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9429DC28-EC07-4CCE-A4FC-43478CD4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versioned Skills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圆角矩形 101">
            <a:extLst xmlns:a="http://schemas.openxmlformats.org/drawingml/2006/main">
              <a:ext uri="{FF2B5EF4-FFF2-40B4-BE49-F238E27FC236}">
                <a16:creationId xmlns:a16="http://schemas.microsoft.com/office/drawing/2014/main" id="{BAE16DD7-AD7B-40C5-81C0-62CE2220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honest adapters</a:t>
            </a:r>
            <a:endParaRPr sz="69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0AAECA1A-6F2D-4206-80F1-86B5CE09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68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AgentTeams infra / Matrix = LIVE_LOCAL；workflow / GPU / Nexa / PITR = NOT RUN</a:t>
            </a:r>
            <a:endParaRPr sz="7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615114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907074B-4C77-4552-8404-FD7963FA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协议 · RXP/1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81FB40-2DD2-4945-B1D1-D2618B7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RXP/1：一次授权与可验收因果链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EA5EABF-9D17-4BD9-AA44-D84A08A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F3F998AD-EFC3-435F-9457-6CE708D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它不替代 MCP / A2A / PROV / MLflow；它补齐“谁可跑哪一格、该交什么证据、何时可下结论”。</a:t>
            </a:r>
            <a:endParaRPr sz="109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2E30D1FD-0E9B-4067-A2A5-6DDCBC79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4345"/>
            <a:ext cx="11144250" cy="4457700"/>
          </a:xfrm>
          <a:prstGeom xmlns:a="http://schemas.openxmlformats.org/drawingml/2006/main" prst="roundRect">
            <a:avLst>
              <a:gd name="adj" fmla="val 34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192A94E-966B-49B9-BB6B-A36D1D84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HUMAN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B8E1E7A-6F51-4A30-A20E-B6356EE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336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Researcher</a:t>
            </a:r>
            <a:endParaRPr sz="79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93E9B313-7A30-4397-9882-BEAEA7A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479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Approver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4AE3CECD-F420-421A-BD7C-F9FDCD03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623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Judge replay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80B9B6A2-5F39-47FA-8446-38BF9BFA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7665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096DC7E6-BB41-447F-9117-D2770295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91000"/>
            <a:ext cx="1238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Operator</a:t>
            </a:r>
            <a:endParaRPr sz="79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2F75B6C-7081-479D-B6EE-8D492D74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COLLABORATION CONTEXT · TASK / RUN / CELL CORRELATION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82925637-6D42-4D83-8F44-09B9192B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05025"/>
            <a:ext cx="3638550" cy="2505075"/>
          </a:xfrm>
          <a:prstGeom xmlns:a="http://schemas.openxmlformats.org/drawingml/2006/main" prst="roundRect">
            <a:avLst>
              <a:gd name="adj" fmla="val 6084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0">
            <a:solidFill>
              <a:srgbClr val="1B1F3B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F60FE3-9A4D-4BD4-AEB1-97387F2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47900"/>
            <a:ext cx="1476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E2A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AgentTeams Manager</a:t>
            </a:r>
            <a:endParaRPr sz="82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6366D5D6-7962-4107-9B98-114DA5B9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0" i="0">
                <a:solidFill>
                  <a:srgbClr val="BFC9E5"/>
                </a:solidFill>
                <a:latin typeface="Noto Sans CJK SC"/>
                <a:ea typeface="Noto Sans CJK SC"/>
                <a:cs typeface="Noto Sans CJK SC"/>
              </a:rPr>
              <a:t>把 Project / Task / Artifact 映射到同一 RXP run</a:t>
            </a:r>
            <a:endParaRPr sz="750" b="0" i="0">
              <a:solidFill>
                <a:srgbClr val="BFC9E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FAC2CE25-F531-46F6-B8F1-F9E87F71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Scout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45E874DB-4CAA-4DD6-B0E2-5AEEED8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051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CF942107-3E99-4C00-B1EA-B9B570B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B8D0D6A-809E-45C3-94E5-DB2E6E4F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8137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DD2C7FD-048E-484C-B478-49C18B17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0015C2D8-596D-4FF6-AC7A-5DDF692B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14382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6304F"/>
          </a:solidFill>
          <a:ln xmlns:a="http://schemas.openxmlformats.org/drawingml/2006/main" w="9525">
            <a:solidFill>
              <a:srgbClr val="465173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Memory</a:t>
            </a:r>
            <a:endParaRPr sz="80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D7843E1C-B306-40FD-920F-FF391044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91025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AEBBD8"/>
                </a:solidFill>
                <a:latin typeface="Noto Sans CJK SC"/>
                <a:ea typeface="Noto Sans CJK SC"/>
                <a:cs typeface="Noto Sans CJK SC"/>
              </a:rPr>
              <a:t>room 只传 rxp:// 引用；验证器读取 canonical documents</a:t>
            </a:r>
            <a:endParaRPr sz="700" b="0" i="0">
              <a:solidFill>
                <a:srgbClr val="AEBBD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1D1D9CF6-7EF1-480D-AA3D-B828B000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05025"/>
            <a:ext cx="2381250" cy="25050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2579BC7C-2C74-4F01-ACFA-3E3D84F3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57425"/>
            <a:ext cx="11430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RXP CAUSAL CHAIN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A027D9D-4153-4FAA-8AF7-2D25C153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431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canonical JSON + append-only ledger</a:t>
            </a:r>
            <a:endParaRPr sz="15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椭圆 59">
            <a:extLst xmlns:a="http://schemas.openxmlformats.org/drawingml/2006/main">
              <a:ext uri="{FF2B5EF4-FFF2-40B4-BE49-F238E27FC236}">
                <a16:creationId xmlns:a16="http://schemas.microsoft.com/office/drawing/2014/main" id="{A0C1B876-48B0-43DA-9C5B-8B6C0D6B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7A6768BE-2676-4AD7-85DE-FB557449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241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Intent / MatrixPlan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椭圆 61">
            <a:extLst xmlns:a="http://schemas.openxmlformats.org/drawingml/2006/main">
              <a:ext uri="{FF2B5EF4-FFF2-40B4-BE49-F238E27FC236}">
                <a16:creationId xmlns:a16="http://schemas.microsoft.com/office/drawing/2014/main" id="{5BA93FCD-7C37-4889-9274-3AFE91AF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02F3829-1AB7-48BB-A007-C9551F34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480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Grant / exact scope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椭圆 63">
            <a:extLst xmlns:a="http://schemas.openxmlformats.org/drawingml/2006/main">
              <a:ext uri="{FF2B5EF4-FFF2-40B4-BE49-F238E27FC236}">
                <a16:creationId xmlns:a16="http://schemas.microsoft.com/office/drawing/2014/main" id="{5F6242C8-BA66-43B9-AA80-0FE4293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4CF5400-AEC0-402E-9795-79690E50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71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Receipt / Evidence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椭圆 65">
            <a:extLst xmlns:a="http://schemas.openxmlformats.org/drawingml/2006/main">
              <a:ext uri="{FF2B5EF4-FFF2-40B4-BE49-F238E27FC236}">
                <a16:creationId xmlns:a16="http://schemas.microsoft.com/office/drawing/2014/main" id="{805C0706-9A22-49A5-A5C4-C5576035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81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B514D404-249F-4D60-835F-3DD1F60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957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1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Decision / root</a:t>
            </a:r>
            <a:endParaRPr sz="81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48C807DB-AC04-499C-84EB-6D5B97D3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86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Grant 绑定 plan · cell · budget · expiry · nonce</a:t>
            </a:r>
            <a:endParaRPr sz="7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B422BB92-6C1B-48C0-B6FF-819D7C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859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94A3B8"/>
                </a:solidFill>
                <a:latin typeface="Noto Sans CJK SC"/>
                <a:ea typeface="Noto Sans CJK SC"/>
                <a:cs typeface="Noto Sans CJK SC"/>
              </a:rPr>
              <a:t>REFERENCE IMPLEMENTATION</a:t>
            </a:r>
            <a:endParaRPr sz="715" b="1" i="0">
              <a:solidFill>
                <a:srgbClr val="94A3B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65E5CDC-ABF2-48ED-AE9B-078B09BA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050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002784AE-73E8-4863-981A-E60BB87A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717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715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9620F7A9-7F06-4106-8824-860BEA1B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336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Schema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92EFA87-FBF7-4537-95F9-129F02E1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336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7 JSON Schemas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CCB6277A-23C2-4DC1-86A5-4C30627A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03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B9F80CF-1BCF-4195-8F3C-5275BF19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715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49F1990-80CB-405A-A7E2-CEE93A5C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Signer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E1D9CCB1-6638-4F68-8225-C7A49B15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289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HMAC demo · production trust NONE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4302A79-0E26-43B2-A677-115AD3B0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956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6FB0A9A-EE35-46F5-9CAD-9C1443BE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623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71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21999327-EE43-48AB-8859-9FF707D3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242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Ledger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F640BEC5-4880-4023-94A7-84661B7D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242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23 append-only entries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20EF66B3-F6AE-4439-B7F4-78436E08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909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2CDECB60-19C3-4E38-8148-AB18F5EB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576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71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33F1CBED-F58E-4BB4-BE96-CD99BFDC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Matrix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5D66D65-4433-41BB-88E8-6FE9112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6195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2 / 2 cells COMPLETE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圆角矩形 85">
            <a:extLst xmlns:a="http://schemas.openxmlformats.org/drawingml/2006/main">
              <a:ext uri="{FF2B5EF4-FFF2-40B4-BE49-F238E27FC236}">
                <a16:creationId xmlns:a16="http://schemas.microsoft.com/office/drawing/2014/main" id="{6BD65D80-9EB4-40D2-81C5-03666A2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86225"/>
            <a:ext cx="22669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F2D31E82-E355-47BB-8C91-3F5D712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529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D8F17514-FD67-4EB7-9308-6704009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148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Verifier</a:t>
            </a:r>
            <a:endParaRPr sz="79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00081D17-0496-42DB-882A-6DA890B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11480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tamper / omission / replay fail closed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cxnSp>
        <p:nvCxnSpPr>
          <p:cNvPr id="699" name="直接箭头连接符 158"/>
          <p:cNvCxnSpPr>
            <a:stCxn xmlns:a="http://schemas.openxmlformats.org/drawingml/2006/main" id="41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305050"/>
            <a:ext cx="390525" cy="10525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700" name="直接箭头连接符 159"/>
          <p:cNvCxnSpPr>
            <a:stCxn xmlns:a="http://schemas.openxmlformats.org/drawingml/2006/main" id="42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2819400"/>
            <a:ext cx="390525" cy="53816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701" name="直接箭头连接符 160"/>
          <p:cNvCxnSpPr>
            <a:stCxn xmlns:a="http://schemas.openxmlformats.org/drawingml/2006/main" id="43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933575" y="3333750"/>
            <a:ext cx="390525" cy="23813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702" name="直接箭头连接符 161"/>
          <p:cNvCxnSpPr>
            <a:stCxn xmlns:a="http://schemas.openxmlformats.org/drawingml/2006/main" id="44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49053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cxnSp>
        <p:nvCxnSpPr>
          <p:cNvPr id="703" name="直接箭头连接符 162"/>
          <p:cNvCxnSpPr>
            <a:stCxn xmlns:a="http://schemas.openxmlformats.org/drawingml/2006/main" id="45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1933575" y="3357563"/>
            <a:ext cx="390525" cy="1004888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4A3B8"/>
            </a:solidFill>
            <a:prstDash val="solid"/>
            <a:headEnd type="arrow" w="sm" len="sm"/>
          </a:ln>
        </p:spPr>
      </p:cxnSp>
      <p:sp>
        <p:nvSpPr>
          <p:cNvPr id="95" name="直接连接符 94">
            <a:extLst xmlns:a="http://schemas.openxmlformats.org/drawingml/2006/main">
              <a:ext uri="{FF2B5EF4-FFF2-40B4-BE49-F238E27FC236}">
                <a16:creationId xmlns:a16="http://schemas.microsoft.com/office/drawing/2014/main" id="{391E277F-0872-40C4-B3A9-39131793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6" name="直接连接符 95">
            <a:extLst xmlns:a="http://schemas.openxmlformats.org/drawingml/2006/main">
              <a:ext uri="{FF2B5EF4-FFF2-40B4-BE49-F238E27FC236}">
                <a16:creationId xmlns:a16="http://schemas.microsoft.com/office/drawing/2014/main" id="{071560BB-06B5-403B-99BA-FD76673A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5280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EEE141F4-F6F2-4BC3-BE66-2077EE2B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72025"/>
            <a:ext cx="906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4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Decision 只有在 expected cells、receipts、evidence kinds、reviewer independence 全部闭合后生成</a:t>
            </a:r>
            <a:endParaRPr sz="84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639289F9-A82A-4266-8820-92756306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MCP · tools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31979B49-9EFF-41AD-8012-C66C873B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A2A · tasks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718051BF-0706-49C2-88F8-48AC2DD6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PROV · provenance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9429DC28-EC07-4CCE-A4FC-43478CD4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MLflow · tracking</a:t>
            </a:r>
            <a:endParaRPr sz="69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圆角矩形 101">
            <a:extLst xmlns:a="http://schemas.openxmlformats.org/drawingml/2006/main">
              <a:ext uri="{FF2B5EF4-FFF2-40B4-BE49-F238E27FC236}">
                <a16:creationId xmlns:a16="http://schemas.microsoft.com/office/drawing/2014/main" id="{BAE16DD7-AD7B-40C5-81C0-62CE2220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67325"/>
            <a:ext cx="19526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RXP · acceptance</a:t>
            </a:r>
            <a:endParaRPr sz="69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0AAECA1A-6F2D-4206-80F1-86B5CE09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68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确定性 fixture：相同输入生成 byte-identical ledger；外部 checkpoint 仍是 production 必需项</a:t>
            </a:r>
            <a:endParaRPr sz="7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6151141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EF7F39-1C65-4E7A-A20E-B5CA0FA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AgentTeams · LIVE_LOCAL infrastructure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3D5124-BF80-4C59-8E82-55A62A5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基础设施已联通；科研工作流仍冻结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A7701E1-C1B6-478F-A5C0-4F522A62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Bridge 将官方响应、typed Matrix、checkpoint、receipt 与 Decision 绑定同一 run，并可持久化到 PostgreSQL。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64AD0DDB-9890-4793-A646-FA551BA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D657EBF8-0B46-4FA4-8B4A-669BBF7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437765"/>
            <a:ext cx="10858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PROJECT ROOM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BEDE353-300D-4A21-B680-26EC492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7044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Research PI / Manager</a:t>
            </a:r>
            <a:endParaRPr sz="13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EDF8AEF-247D-49AE-BB07-A90090D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961640"/>
            <a:ext cx="497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rPr>
              <a:t>创建 Project · 分解 DAG · 委派 · 接受 · 验证 · 完成</a:t>
            </a:r>
            <a:endParaRPr sz="735" b="0" i="0">
              <a:solidFill>
                <a:srgbClr val="B8C5D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2B31DC84-C1E3-4AA1-B013-96B0A618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FEBD3A8-E6CA-4028-887F-19C1162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6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DC3DAD04-5AA6-484B-B0C5-DF2E452F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Scout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60C934D-2A5C-4A9A-8AF1-C5129D9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冻结上下文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FC519BEB-1770-43D0-BE1C-C1B36FD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4DC659C-E68A-4A8D-894F-9F840D1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6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1B04CAE-520F-4536-AD64-1A14793F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2F4EABA-099F-43F5-89F9-EBD9028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生成 MatrixPlan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3A25F847-C881-4F3F-8A07-100A6F1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774CA823-7227-4B75-8DCF-EF0F7899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6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E78439-76D0-4C33-B16B-D7FAD4CD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D03A6CD-4017-4C0B-9D71-7C019E4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领取并执行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3630938D-0ADF-4838-8F8D-323E1E94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661B10C-E633-40EF-BE41-57C832C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69D49E0D-10AD-4FC3-B6DC-A3632369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903DDAC-4579-469A-9AA3-08514318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确定性算分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6D917FA7-BBF1-41CB-8F35-CE20CAFC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CCA829D7-37E4-4D98-A9A3-CD044D7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66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5139769-91AC-437D-9BA8-6D78CF2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99451F8F-59E3-4A77-B27C-C0D5520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独立质疑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EC78FDDF-5E33-49C2-8AFF-977A633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C3709D6-B475-4941-B6B8-CDF2F7CF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66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8AA153B2-9B2D-4D5B-B063-7AA70FE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Memory candidate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8380801D-0451-430A-BD48-E28E2C0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candidate only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C651DAB7-54AB-4E28-B013-2E0D4AB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790440"/>
            <a:ext cx="497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304967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正常：delegate → accept → execute → verify｜异常：conflict→replan · timeout→reassign · crash→resume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B9A3C4C-7121-413E-9B52-9A8EE62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8004EC29-30BA-4F5D-A776-86929B51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437765"/>
            <a:ext cx="1123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OFFICIAL CONTRACT TRACE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24DA2F6-4EF9-44A3-BC53-FE66FF20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23996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每一步有观察断言</a:t>
            </a:r>
            <a:endParaRPr sz="1200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DBABCCB-02EA-4F58-B535-62A2FB0F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7616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Create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F578FB82-46AA-470B-A3CF-CAFF3844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27616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Project API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583CDED-5F11-449D-A1C1-BF4EAFB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27616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必须返回 project_id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C829B28B-8804-4F36-8B35-ABF39B3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283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6A756D6C-83A8-467A-835B-346569E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568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Decompose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6C9F716-F6E8-48DA-A5CC-78A7AAF8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0568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Task DAG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A5F23D0A-BD95-499D-821D-F3D4448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0568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依赖与 expected artifacts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直接连接符 77">
            <a:extLst xmlns:a="http://schemas.openxmlformats.org/drawingml/2006/main">
              <a:ext uri="{FF2B5EF4-FFF2-40B4-BE49-F238E27FC236}">
                <a16:creationId xmlns:a16="http://schemas.microsoft.com/office/drawing/2014/main" id="{7FB739EA-A98F-4090-8368-847E16B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235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59268B9-1984-45DC-8F89-4FFC5367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521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Delegate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94F189BD-CB87-48C8-8E04-4ECD1ED2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3521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&gt;=3 Workers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AD824AF9-0EB5-4595-A56C-BC596645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3521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真实 worker principals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直接连接符 81">
            <a:extLst xmlns:a="http://schemas.openxmlformats.org/drawingml/2006/main">
              <a:ext uri="{FF2B5EF4-FFF2-40B4-BE49-F238E27FC236}">
                <a16:creationId xmlns:a16="http://schemas.microsoft.com/office/drawing/2014/main" id="{4DFBE7C8-4155-4BA2-B028-A88156F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1886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CA5837AE-E559-4317-ADE6-A101EAC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4744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Accept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8BA7E27D-41ED-43C3-99EC-17320DB8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64744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assignee state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5CA8622C-CB54-40A7-AD1D-CE726F99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64744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不是 Manager 自演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直接连接符 85">
            <a:extLst xmlns:a="http://schemas.openxmlformats.org/drawingml/2006/main">
              <a:ext uri="{FF2B5EF4-FFF2-40B4-BE49-F238E27FC236}">
                <a16:creationId xmlns:a16="http://schemas.microsoft.com/office/drawing/2014/main" id="{DBEE7165-561A-4184-9F67-C31FBCE7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1414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8B77912F-C173-4E1A-B2A3-8362AFD3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427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39D5F2F2-0CAC-420F-95C0-488D26E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9427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A5E9460E-B767-4C72-B969-6C06A9E4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9427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与 Runtime 身份分离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CE63147B-DD81-49E2-ADB1-91B33C4A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094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553603D4-F7BF-4100-84A9-51E1B07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379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Recover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99E5E4D4-B36D-401F-8E1E-0A1EB797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2379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replan / reassign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9B1CE048-680E-418F-91F4-CAFE85E1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2379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原因进入 trace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4" name="直接连接符 93">
            <a:extLst xmlns:a="http://schemas.openxmlformats.org/drawingml/2006/main">
              <a:ext uri="{FF2B5EF4-FFF2-40B4-BE49-F238E27FC236}">
                <a16:creationId xmlns:a16="http://schemas.microsoft.com/office/drawing/2014/main" id="{B3A75D54-F5EE-4432-8A31-9F6BF02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046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2F591D0B-9ADE-45B6-B02A-391CCC5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332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Finish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6150BD77-293F-46DE-B033-AD802C0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5332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Decision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806E59B0-AFF1-43AE-BB40-C013F806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5332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绑定 RXP ledger root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7075BB1-C768-471D-B1F2-1580411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847590"/>
            <a:ext cx="498094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Trace contract：sequence + previous_hash + event_hash + typed lifecycle + independent review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204E02AA-B214-4B57-B93D-E190326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09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CREATE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93463CE5-2E44-4A68-9788-A35C6102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DECOMPOSE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15B92812-4D73-46CE-803F-D63BB24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DELEGATE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4C746EC5-6265-4B1E-A1D3-CDA4451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ACCEPT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939229A9-1DC1-439F-8029-3CDC591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20018525-943B-42B4-829C-506E7B0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14975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EXECUTE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9F4A60DD-905E-49A0-955A-43EF3E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47DCA0CF-F1BA-4D14-9E43-5CBDC2F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DECIDE</a:t>
            </a:r>
            <a:endParaRPr sz="65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770AFC2F-BBE8-4432-96A3-E9C0FC5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457825"/>
            <a:ext cx="13716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DECIDE →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MEMORY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8" name="矩形 107">
            <a:extLst xmlns:a="http://schemas.openxmlformats.org/drawingml/2006/main">
              <a:ext uri="{FF2B5EF4-FFF2-40B4-BE49-F238E27FC236}">
                <a16:creationId xmlns:a16="http://schemas.microsoft.com/office/drawing/2014/main" id="{FB34B2C0-1D2B-4D7C-91AA-F0D19CB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71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共享：project_id · task_id · rxp_run_id · cell_id · trace_id · evidence_root</a:t>
            </a:r>
            <a:endParaRPr sz="73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B3F0FCE7-D102-4179-8636-EDDFCFE3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72200"/>
            <a:ext cx="881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Controller / Manager / 4 Workers / Matrix = LIVE_LOCAL；8 nodes PENDING；GPU NOT_ATTACHED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196554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EF7F39-1C65-4E7A-A20E-B5CA0FAA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Authority · Separation of duties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3D5124-BF80-4C59-8E82-55A62A5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29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同一 Agent 不得自评自证</a:t>
            </a:r>
            <a:endParaRPr sz="29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A7701E1-C1B6-478F-A5C0-4F522A62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至少 3 个真实 principal；R2 / R3 必须停在人类 checkpoint，恢复后仍沿用同一 correlation chain。</a:t>
            </a:r>
            <a:endParaRPr sz="106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64AD0DDB-9890-4793-A646-FA551BA0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D657EBF8-0B46-4FA4-8B4A-669BBF72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437765"/>
            <a:ext cx="10858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PRINCIPAL MAP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BEDE353-300D-4A21-B680-26EC492B8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7044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&gt;=3 distinct identities</a:t>
            </a:r>
            <a:endParaRPr sz="13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EDF8AEF-247D-49AE-BB07-A90090D4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961640"/>
            <a:ext cx="497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5" b="0" i="0">
                <a:solidFill>
                  <a:srgbClr val="B8C5DD"/>
                </a:solidFill>
                <a:latin typeface="Noto Sans CJK SC"/>
                <a:ea typeface="Noto Sans CJK SC"/>
                <a:cs typeface="Noto Sans CJK SC"/>
              </a:rPr>
              <a:t>权限边界先于模型能力</a:t>
            </a:r>
            <a:endParaRPr sz="735" b="0" i="0">
              <a:solidFill>
                <a:srgbClr val="B8C5D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2B31DC84-C1E3-4AA1-B013-96B0A618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FEBD3A8-E6CA-4028-887F-19C11626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MGR</a:t>
            </a:r>
            <a:endParaRPr sz="66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DC3DAD04-5AA6-484B-B0C5-DF2E452F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Manager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660C934D-2A5C-4A9A-8AF1-C5129D9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route / merge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FC519BEB-1770-43D0-BE1C-C1B36FDF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30454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4DC659C-E68A-4A8D-894F-9F840D1E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38074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ARC</a:t>
            </a:r>
            <a:endParaRPr sz="66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1B04CAE-520F-4536-AD64-1A14793F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32359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Architect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2F4EABA-099F-43F5-89F9-EBD90285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32359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plan · no approval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3A25F847-C881-4F3F-8A07-100A6F12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774CA823-7227-4B75-8DCF-EF0F7899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RUN</a:t>
            </a:r>
            <a:endParaRPr sz="66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E78439-76D0-4C33-B16B-D7FAD4CD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Runtime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D03A6CD-4017-4C0B-9D71-7C019E4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execute · no verdict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3630938D-0ADF-4838-8F8D-323E1E94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3771265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5661B10C-E633-40EF-BE41-57C832C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3847465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EVA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69D49E0D-10AD-4FC3-B6DC-A3632369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3790315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Evaluator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903DDAC-4579-469A-9AA3-08514318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3790315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metric · no artifact edit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6D917FA7-BBF1-41CB-8F35-CE20CAFC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CCA829D7-37E4-4D98-A9A3-CD044D79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REV</a:t>
            </a:r>
            <a:endParaRPr sz="66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5139769-91AC-437D-9BA8-6D78CF26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99451F8F-59E3-4A77-B27C-C0D5520F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55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independent gate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EC78FDDF-5E33-49C2-8AFF-977A633A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5155" y="4237990"/>
            <a:ext cx="23145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C3709D6-B475-4941-B6B8-CDF2F7CF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305" y="4314190"/>
            <a:ext cx="228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HUM</a:t>
            </a:r>
            <a:endParaRPr sz="66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8AA153B2-9B2D-4D5B-B063-7AA70FE0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9955" y="4257040"/>
            <a:ext cx="1219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Human</a:t>
            </a:r>
            <a:endParaRPr sz="750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8380801D-0451-430A-BD48-E28E2C0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0" y="4257040"/>
            <a:ext cx="714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AFC0D9"/>
                </a:solidFill>
                <a:latin typeface="Noto Sans CJK SC"/>
                <a:ea typeface="Noto Sans CJK SC"/>
                <a:cs typeface="Noto Sans CJK SC"/>
              </a:rPr>
              <a:t>R2/R3 grant</a:t>
            </a:r>
            <a:endParaRPr sz="675" b="0" i="0">
              <a:solidFill>
                <a:srgbClr val="AFC0D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C651DAB7-54AB-4E28-B013-2E0D4AB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4790440"/>
            <a:ext cx="497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304967"/>
            </a:solidFill>
            <a:prstDash val="solid"/>
          </a:ln>
        </p:spPr>
        <p:txBody>
          <a:bodyPr xmlns:a="http://schemas.openxmlformats.org/drawingml/2006/main" lIns="66675" tIns="47625" rIns="66675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principal conflict / self-review / missing reviewer → structured error + no Decision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B9A3C4C-7121-413E-9B52-9A8EE623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oundRect">
            <a:avLst>
              <a:gd name="adj" fmla="val 514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8004EC29-30BA-4F5D-A776-86929B51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437765"/>
            <a:ext cx="11239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GRANT CONTRACT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824DA2F6-4EF9-44A3-BC53-FE66FF20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970" y="239966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一次批准只对应一次精确实验格</a:t>
            </a:r>
            <a:endParaRPr sz="1200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DBABCCB-02EA-4F58-B535-62A2FB0F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27616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intent_digest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F578FB82-46AA-470B-A3CF-CAFF3844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27616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SHA-256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2583CDED-5F11-449D-A1C1-BF4EAFB2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27616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绑定 frozen objective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C829B28B-8804-4F36-8B35-ABF39B36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283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6A756D6C-83A8-467A-835B-346569E7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0568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scope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A6C9F716-F6E8-48DA-A5CC-78A7AAF8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0568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run + cell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A5F23D0A-BD95-499D-821D-F3D4448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0568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不能跨 matrix 复用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直接连接符 77">
            <a:extLst xmlns:a="http://schemas.openxmlformats.org/drawingml/2006/main">
              <a:ext uri="{FF2B5EF4-FFF2-40B4-BE49-F238E27FC236}">
                <a16:creationId xmlns:a16="http://schemas.microsoft.com/office/drawing/2014/main" id="{7FB739EA-A98F-4090-8368-847E16B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235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59268B9-1984-45DC-8F89-4FFC5367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3521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expiry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94F189BD-CB87-48C8-8E04-4ECD1ED2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3521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≤15 minutes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AD824AF9-0EB5-4595-A56C-BC596645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3521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过期即失效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直接连接符 81">
            <a:extLst xmlns:a="http://schemas.openxmlformats.org/drawingml/2006/main">
              <a:ext uri="{FF2B5EF4-FFF2-40B4-BE49-F238E27FC236}">
                <a16:creationId xmlns:a16="http://schemas.microsoft.com/office/drawing/2014/main" id="{4DFBE7C8-4155-4BA2-B028-A88156F1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1886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CA5837AE-E559-4317-ADE6-A101EAC7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64744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nonce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8BA7E27D-41ED-43C3-99EC-17320DB8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64744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single-use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5CA8622C-CB54-40A7-AD1D-CE726F99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64744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原子消费 / replay reject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直接连接符 85">
            <a:extLst xmlns:a="http://schemas.openxmlformats.org/drawingml/2006/main">
              <a:ext uri="{FF2B5EF4-FFF2-40B4-BE49-F238E27FC236}">
                <a16:creationId xmlns:a16="http://schemas.microsoft.com/office/drawing/2014/main" id="{DBEE7165-561A-4184-9F67-C31FBCE7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1414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8B77912F-C173-4E1A-B2A3-8362AFD3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394271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receipt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39D5F2F2-0CAC-420F-95C0-488D26E3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394271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run binding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A5E9460E-B767-4C72-B969-6C06A9E4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394271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执行事实反向绑定 Grant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CE63147B-DD81-49E2-ADB1-91B33C4A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09415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553603D4-F7BF-4100-84A9-51E1B079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23799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rollback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99E5E4D4-B36D-401F-8E1E-0A1EB797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23799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checkpoint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9B1CE048-680E-418F-91F4-CAFE85E1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23799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恢复不覆盖原始失败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4" name="直接连接符 93">
            <a:extLst xmlns:a="http://schemas.openxmlformats.org/drawingml/2006/main">
              <a:ext uri="{FF2B5EF4-FFF2-40B4-BE49-F238E27FC236}">
                <a16:creationId xmlns:a16="http://schemas.microsoft.com/office/drawing/2014/main" id="{B3A75D54-F5EE-4432-8A31-9F6BF02D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04690"/>
            <a:ext cx="49809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2F591D0B-9ADE-45B6-B02A-391CCC5D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53326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audit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6150BD77-293F-46DE-B033-AD802C04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845" y="453326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hash chain</a:t>
            </a:r>
            <a:endParaRPr sz="670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806E59B0-AFF1-43AE-BB40-C013F806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6370" y="453326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每次动作可重放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7075BB1-C768-471D-B1F2-1580411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1770" y="4847590"/>
            <a:ext cx="498094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HMAC key 仅用于公开 fixture；production signer / key custody 明确不在当前验证范围</a:t>
            </a:r>
            <a:endParaRPr sz="6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204E02AA-B214-4B57-B93D-E190326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14975"/>
            <a:ext cx="10096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INTENT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93463CE5-2E44-4A68-9788-A35C6102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PLAN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15B92812-4D73-46CE-803F-D63BB24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REVIEW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4C746EC5-6265-4B1E-A1D3-CDA4451B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GRANT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939229A9-1DC1-439F-8029-3CDC591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BLOCKED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20018525-943B-42B4-829C-506E7B0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14975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CONSUME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ONCE</a:t>
            </a:r>
            <a:endParaRPr sz="655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9F4A60DD-905E-49A0-955A-43EF3E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RECEIPT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47DCA0CF-F1BA-4D14-9E43-5CBDC2F0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514975"/>
            <a:ext cx="1028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55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770AFC2F-BBE8-4432-96A3-E9C0FC5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457825"/>
            <a:ext cx="13716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DECIDE /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ARCHIVE</a:t>
            </a:r>
            <a:endParaRPr sz="65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8" name="矩形 107">
            <a:extLst xmlns:a="http://schemas.openxmlformats.org/drawingml/2006/main">
              <a:ext uri="{FF2B5EF4-FFF2-40B4-BE49-F238E27FC236}">
                <a16:creationId xmlns:a16="http://schemas.microsoft.com/office/drawing/2014/main" id="{FB34B2C0-1D2B-4D7C-91AA-F0D19CBE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71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3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HITL 不是 UI 按钮，而是可审计 state transition + scope-bound capability</a:t>
            </a:r>
            <a:endParaRPr sz="73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B3F0FCE7-D102-4179-8636-EDDFCFE3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72200"/>
            <a:ext cx="881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负测：missing grant · scope mismatch · expired · replay · self-review · tamper 均 fail closed</a:t>
            </a:r>
            <a:endParaRPr sz="70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196554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D104BA-63CA-4424-A28E-2504B93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Skills · Runtime registry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BB03D1-AFBA-4A6F-9EFC-7161592F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700"/>
            <a:ext cx="962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discover → load → invoke → canary → rollback → retire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308468C-37AC-4880-9D82-C5100BD5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4C202-6A41-4F7F-8FC8-BA73AB9F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6 / 3</a:t>
            </a:r>
            <a:endParaRPr sz="1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0D0346FC-38E6-4736-8F7B-ED6DBDD0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8250"/>
            <a:ext cx="9620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9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6 个 digest-pinned Skill package；3 个 allowlisted deterministic handler；每次调用输出 correlation trace。</a:t>
            </a:r>
            <a:endParaRPr sz="99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B011DD3-E4D4-4815-81B8-63A43D82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19300"/>
            <a:ext cx="11144250" cy="4057650"/>
          </a:xfrm>
          <a:prstGeom xmlns:a="http://schemas.openxmlformats.org/drawingml/2006/main" prst="roundRect">
            <a:avLst>
              <a:gd name="adj" fmla="val 37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71B5C9C-79F3-4968-BD17-AEA19E3B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9525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EXECUTABLE CORE</a:t>
            </a:r>
            <a:endParaRPr sz="67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DDECC3D-3680-4071-925F-DC745C6C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574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3 个可运行 handler</a:t>
            </a:r>
            <a:endParaRPr sz="127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DC125510-ACD5-45B7-94E0-8B654569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6702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75E6007D-AEBC-475D-A23E-35ED2CFE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D72018B0-91ED-48F1-A7AB-0BBD9723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ResearchPlan</a:t>
            </a:r>
            <a:endParaRPr sz="79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43F922C-C7F4-4382-AA84-BE049259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765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freeze · budget · falsifiability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19E3801A-FA08-489D-8379-678EBE7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9567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897DDB80-D332-4AE1-AEF5-E010D2BC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AF529C8E-553D-43B9-809B-D3B503E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337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Dataset</a:t>
            </a:r>
            <a:br/>
            <a:r>
              <a:rPr sz="79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Manifest</a:t>
            </a:r>
            <a:endParaRPr sz="79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31A32BF1-AC82-4927-9C16-45DE42BB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0522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relative path · digest · canonical order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48277116-2FBC-43AB-BA5C-D1F0E331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2432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24608A2E-B99C-43B4-95BF-F673C196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349F7846-6B96-4721-8EE5-BE4CBEBB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624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EvidenceGate</a:t>
            </a:r>
            <a:endParaRPr sz="79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CD58902D-3986-4A1C-BB7A-E229FD2B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3387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complete kinds · reviewer independence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D85A8086-55B5-4BC4-8191-830BA5FC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52975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10FA8613-9364-4625-B340-AC69B462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4822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809365-516E-4D4F-B169-FB5BD744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9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SafeRunner</a:t>
            </a:r>
            <a:endParaRPr sz="79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0BE32BA-6A97-4E81-B525-A342C7CC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62525"/>
            <a:ext cx="2409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discoverable · generic invoke denied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2EB3036D-A7A0-414E-9D6A-D0621A17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673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+ AblationAnalyzer / ResearchMemory；高风险 runner 不因 registry 而绕过专用 approval path。</a:t>
            </a:r>
            <a:endParaRPr sz="715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817383-583C-4A98-AA07-E0D3905C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71700"/>
            <a:ext cx="11811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RELEASE CONTRACT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A37F8CDA-F767-4AB9-8F6D-5B1F2CD5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57450"/>
            <a:ext cx="453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skill://name@semver#package_digest</a:t>
            </a:r>
            <a:endParaRPr sz="1275" b="1" i="0">
              <a:solidFill>
                <a:srgbClr val="2563E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9C69F8B-B988-4712-B290-D3E6E56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1940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输入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D6955C2-043D-46FF-9F31-2C1C8DBE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typed payload + correlation_id + optional version pin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1F7F6C98-0219-4887-B2A1-B0458A5E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7182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输出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148ED7-CFCF-47A4-B5AB-6E61989A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7182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result + input/output digest + invocation_id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6FD512C0-4052-40E8-AEF2-2B9D2EAC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52425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发现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A9679402-A35F-40E5-946C-5835F962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SKILL.md + project manifest · strict SemVer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C678DAE9-431A-4FAC-8C8C-D997E683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87667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路由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65D2DEE-50B5-4C20-B469-1092E902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7667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deterministic hash bucket · canary ≤50%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DA3E337-656F-45AD-B311-E39B86E3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2910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失败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DB355A21-701C-4959-96C1-647B055C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2910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E_VERSION_PIN · E_PACKAGE_DIGEST · E_NOT_EXECUTABLE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FF769A5-FC16-4C42-AF6A-F6DDA91B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58152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安全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CD8CBDE2-813F-447A-BCBF-2D3BA312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8152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handler allowlist · owner ≠ reviewer · fail closed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E2EC5C63-A02C-41EB-BCF3-9ADD5C14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933950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7ED96C6D-33C3-4B9E-98ED-F66BE4CD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33950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same correlation + input → same invocation trace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75846D7-61CC-46B1-964B-45562219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286375"/>
            <a:ext cx="600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生命周期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221B0F9B-B28F-4112-806B-5B16683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86375"/>
            <a:ext cx="3895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draft → canary → active → retired / rollback</a:t>
            </a:r>
            <a:endParaRPr sz="65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ECF66CF-A57E-4B76-8975-F5329814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695950"/>
            <a:ext cx="45339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当前 reference registry 为进程内状态；production lifecycle persistence 仍需接 control-plane store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B055676F-2008-4E88-947F-32E7AA71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71700"/>
            <a:ext cx="18669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RUNTIME PROOF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0C15EB2-B08A-4566-844E-243804F9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57450"/>
            <a:ext cx="2638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6 packages / 3 executable</a:t>
            </a:r>
            <a:endParaRPr sz="127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圆角矩形 79">
            <a:extLst xmlns:a="http://schemas.openxmlformats.org/drawingml/2006/main">
              <a:ext uri="{FF2B5EF4-FFF2-40B4-BE49-F238E27FC236}">
                <a16:creationId xmlns:a16="http://schemas.microsoft.com/office/drawing/2014/main" id="{9A2E8F34-AD28-446B-A16A-56CF7C3F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26384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discover：frontmatter + manifest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package digest 防静默替换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圆角矩形 80">
            <a:extLst xmlns:a="http://schemas.openxmlformats.org/drawingml/2006/main">
              <a:ext uri="{FF2B5EF4-FFF2-40B4-BE49-F238E27FC236}">
                <a16:creationId xmlns:a16="http://schemas.microsoft.com/office/drawing/2014/main" id="{A7A150D0-A2EC-44FC-9910-F0D31A13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71875"/>
            <a:ext cx="26384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invoke：ResearchPlan / DatasetManifest / EvidenceGate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ctr">
              <a:buNone/>
              <a:def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SafeRunner = E_NOT_EXECUTABLE</a:t>
            </a:r>
            <a:endParaRPr sz="7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D87B513D-9D95-4B90-8A0E-76AD54AE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434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当前证据</a:t>
            </a:r>
            <a:endParaRPr sz="67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A87B997D-4A61-47BF-815F-7CCA32FE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5" b="0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6 focused tests PASS</a:t>
            </a:r>
            <a:endParaRPr sz="675" b="0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22F64D6D-3291-4445-885C-12784969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57725"/>
            <a:ext cx="2638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invocation trace</a:t>
            </a:r>
            <a:endParaRPr sz="77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ACAEDCAE-969F-4517-8BC1-924CA893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26384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76200" tIns="66675" rIns="7620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fixed-seed bootstrap · structured errors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GPU dry-run default · shell=False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algn="l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仅 packaged synthetic_worker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2FBA2B1D-AE8B-43E8-AE5F-AE2EAC1D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67375"/>
            <a:ext cx="2638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复用：robotics / model training / data pipeline 共用合同；handler 保持领域内确定性</a:t>
            </a:r>
            <a:endParaRPr sz="655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1519826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8AD5C5-917F-46F3-9DCF-9C2E066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HITL · RXP one-time Grant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E61B3-10CF-4C36-B145-AE61804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实验 token 不是额度：它代表一次可审计、不可重放的实验授权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8819468-BC3E-4475-B561-1335A30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10001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SYNTHETIC FIXTURE：签名 key 为公开 demo key；结构验证真实，production signature trust = NONE。</a:t>
            </a:r>
            <a:endParaRPr sz="88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89BCABAD-3B60-433D-B356-EC86DB8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冻结一个意图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8F5C6-D460-4FAC-8053-4BD5010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 · INTENT</a:t>
            </a:r>
            <a:endParaRPr sz="66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C5B8A03-210F-4C04-8EC2-3175110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7E506D3B-798B-428E-8D46-65F4B7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展开完整矩阵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D92AFA89-6511-4AAA-924E-2628D52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B · MATRIX PLAN</a:t>
            </a:r>
            <a:endParaRPr sz="660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812FBDFB-A1C0-4770-B72F-FB20DAF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2A0FF05-3C37-4962-BBDD-6E2145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人只批准精确 scope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34F95F5-1FC5-45C4-8990-243D87A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C · GRANT</a:t>
            </a:r>
            <a:endParaRPr sz="66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9FC54E1A-3883-449E-B20C-B084F18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791F898-7E78-47C1-AC05-A782C68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证据齐全才 Decision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CA470DF-79AB-4F78-BE92-CDE46E1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 · ACCEPTANCE</a:t>
            </a:r>
            <a:endParaRPr sz="66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B0FE994B-AB66-4B0C-8204-ABAD25E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D292426-B19B-4E58-A8C4-1FAA5E3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32374D2-D6B1-4C46-B3DB-07D7B07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intent digest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2CEC126-BFC6-4464-AE78-C86111B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1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87DCE59-F96A-4A89-BC3E-E266138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frozen policy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189AF905-1D1E-40D8-AB8E-975BE60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RXP/1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ABC1DD-331B-42D5-8BBB-FA99CD2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protocol version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72D4D76E-63F0-47FF-8DFA-0F245F0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目标、预算、接受阈值先 canonicalize；后续对象都反向引用。</a:t>
            </a:r>
            <a:endParaRPr sz="72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D757981-4287-4861-83EA-FE1B5F4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2 cells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3767E5F-10C5-4435-A078-32FE9FF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baseline + candidate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250CCD3-5A63-4620-8FBC-8A42815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2 / 2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930B5B39-DAA7-413A-9134-029B9AF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COMPLETE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49549CD-B051-4888-BE5C-4911CD5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23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5CB65D6-43F2-4235-AFE8-80C2C29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ledger entries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4E6FB19-455C-43D0-A8EA-61FC892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D3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AF2E7C88-94C1-44D3-8B36-67EC39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evidence gate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441D0559-2C72-4E83-9EA5-F8E4AF9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MatrixLedger 证明 expected 与 observed 的集合闭合；漏一格不允许 Decision。</a:t>
            </a:r>
            <a:endParaRPr sz="70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2C89F79A-643D-4484-BF66-6C4370A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R2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F93BC7D-D82F-4DD5-918F-BCBFB89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human checkpoint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CC93DC6-28C0-4F9B-B7C4-BD396FA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scope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E479CC87-ADA5-4A39-BD40-A65FE7E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run + cell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3BB2495C-F205-42B4-B05D-3C26BB1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≤15 min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EB44E2F-FCF2-4A84-8618-9E00858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single-use nonce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41365FFB-CBA0-4EE3-ACC9-7E6A507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Grant 消费后产生 Receipt；重放、换 cell、改 payload、过期都被拒绝。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EB67261-E2DD-427E-A8FD-4A6A561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006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7 / 7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D74E638-ADAB-4296-BB5B-053479E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482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evidence kinds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D3C3CD25-DA3A-418E-B500-C19D641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00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Reviewer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CDE96AC-B445-4E84-A2B4-EE09AC8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248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independent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10AC64-7E61-4FAD-B00B-21849B5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0006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DECIDED</a:t>
            </a:r>
            <a:endParaRPr sz="150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4B44A51-51A3-4212-AE0B-FF3B4E0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48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only after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1C15153B-5D26-422D-B1E9-3182E43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Decision 绑定 evidence root、matrix root、reviewer 和所有 causal references。</a:t>
            </a:r>
            <a:endParaRPr sz="68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75A28AF-71E2-42FF-8991-E182A99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912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fixture root 可独立 verify；真实 GPU / model gain / production key custody 均不在本页宣称范围</a:t>
            </a:r>
            <a:endParaRPr sz="7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331711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E78AA6-92DB-4A4E-9090-EE2A55AD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D04D92-8485-4CFC-8E84-C249BD6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A715E5-54B0-48D1-9253-A1AF6F4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BE5C3-2C8E-4999-8930-224C950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JUDGE REPLAY · CHECKPOINT 1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8CEEB8-FA1A-488C-9510-D7CCBC9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383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一条 run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五个闭环对象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A2F30C-8906-4B69-BAEA-B0C845B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rPr>
              <a:t>真实本地 Cockpit · 静态 fixture 如实标记</a:t>
            </a:r>
            <a:endParaRPr sz="975">
              <a:solidFill>
                <a:srgbClr val="A9B2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2D3AD9B-8920-439C-9142-87DB2CD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95725"/>
            <a:ext cx="4476750" cy="708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Intent → Grant → Receipt → Evidence → Decision；2 / 2 COMPLETE，23-entry append-only ledger。</a:t>
            </a:r>
            <a:endParaRPr sz="13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9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a05b33c114937"/>
          <a:srcRect xmlns:a="http://schemas.openxmlformats.org/drawingml/2006/main" l="7355" t="0" r="7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69d29c77a44b7"/>
          <a:stretch xmlns:a="http://schemas.openxmlformats.org/drawingml/2006/main"/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30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8E78AA6-92DB-4A4E-9090-EE2A55AD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FD04D92-8485-4CFC-8E84-C249BD6C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A715E5-54B0-48D1-9253-A1AF6F4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BE5C3-2C8E-4999-8930-224C950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JUDGE REPLAY · CHECKPOINT 2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8CEEB8-FA1A-488C-9510-D7CCBC9F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38350"/>
            <a:ext cx="4762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故障注入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  <a:p xmlns:a="http://schemas.openxmlformats.org/drawingml/2006/main">
            <a:pPr marL="0" indent="0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4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必须改变结局</a:t>
            </a:r>
            <a:endParaRPr sz="34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A2F30C-8906-4B69-BAEA-B0C845B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A9B2D0"/>
                </a:solidFill>
                <a:latin typeface="Noto Sans CJK SC"/>
                <a:ea typeface="Noto Sans CJK SC"/>
                <a:cs typeface="Noto Sans CJK SC"/>
              </a:rPr>
              <a:t>同一 benchmark corpus · independent oracle</a:t>
            </a:r>
            <a:endParaRPr sz="975">
              <a:solidFill>
                <a:srgbClr val="A9B2D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2D3AD9B-8920-439C-9142-87DB2CDE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95725"/>
            <a:ext cx="4476750" cy="708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timeout / conflict / replay / tamper 不能被吞掉：重路由、阻断或 SKIP 必须进入 evidence bundle。</a:t>
            </a:r>
            <a:endParaRPr sz="135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pic>
        <p:nvPicPr>
          <p:cNvPr id="29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2c1dfca26439a"/>
          <a:srcRect xmlns:a="http://schemas.openxmlformats.org/drawingml/2006/main" l="7355" t="0" r="7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a7623c4e04f81"/>
          <a:stretch xmlns:a="http://schemas.openxmlformats.org/drawingml/2006/main"/>
        </p:blipFill>
        <p:spPr>
          <a:xfrm xmlns:a="http://schemas.openxmlformats.org/drawingml/2006/main" flipH="0" flipV="0">
            <a:off x="5191125" y="1261745"/>
            <a:ext cx="7000875" cy="4619625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530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8AD5C5-917F-46F3-9DCF-9C2E066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Evidence · 2026-09-03 最终验收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E61B3-10CF-4C36-B145-AE61804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同一仓库同时给出代码、负测、报告与 release gate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8819468-BC3E-4475-B561-1335A30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10001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make test：530 PASS / 1 SKIP；full pytest：689 PASS / 1 SKIP；PostgreSQL：38 / 38。</a:t>
            </a:r>
            <a:endParaRPr sz="88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89BCABAD-3B60-433D-B356-EC86DB8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Core + protocol + Skills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8F5C6-D460-4FAC-8053-4BD5010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 · LOCAL TESTS</a:t>
            </a:r>
            <a:endParaRPr sz="66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C5B8A03-210F-4C04-8EC2-3175110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7E506D3B-798B-428E-8D46-65F4B7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React RXP Cockpit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D92AFA89-6511-4AAA-924E-2628D52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B · FRONTEND</a:t>
            </a:r>
            <a:endParaRPr sz="660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812FBDFB-A1C0-4770-B72F-FB20DAF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2A0FF05-3C37-4962-BBDD-6E2145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AgentTeams + PostgreSQL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34F95F5-1FC5-45C4-8990-243D87A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C · INTEGRATIONS</a:t>
            </a:r>
            <a:endParaRPr sz="66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9FC54E1A-3883-449E-B20C-B084F18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791F898-7E78-47C1-AC05-A782C68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Strict corpus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CA470DF-79AB-4F78-BE92-CDE46E1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 · BENCHMARK</a:t>
            </a:r>
            <a:endParaRPr sz="66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B0FE994B-AB66-4B0C-8204-ABAD25E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D292426-B19B-4E58-A8C4-1FAA5E3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689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32374D2-D6B1-4C46-B3DB-07D7B07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full pytest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2CEC126-BFC6-4464-AE78-C86111B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Ruff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87DCE59-F96A-4A89-BC3E-E266138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189AF905-1D1E-40D8-AB8E-975BE60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MyPy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ABC1DD-331B-42D5-8BBB-FA99CD2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72D4D76E-63F0-47FF-8DFA-0F245F0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API 89 · RXP 26 · Skills 6 · Proof 3 · Benchmark 29
Acceptance 16 · AgentTeams 264 · Experiments 16 · MCP 53 · Web 28</a:t>
            </a:r>
            <a:endParaRPr sz="72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D757981-4287-4861-83EA-FE1B5F4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28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3767E5F-10C5-4435-A078-32FE9FF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Web tests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250CCD3-5A63-4620-8FBC-8A42815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Build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930B5B39-DAA7-413A-9134-029B9AF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Vite PASS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49549CD-B051-4888-BE5C-4911CD5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0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5CB65D6-43F2-4235-AFE8-80C2C29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console errors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4E6FB19-455C-43D0-A8EA-61FC892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UI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AF2E7C88-94C1-44D3-8B36-67EC39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truth labels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441D0559-2C72-4E83-9EA5-F8E4AF9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1600×1000 与 390×844 已检查；新增 semifinal acceptance path 可切换。 </a:t>
            </a:r>
            <a:endParaRPr sz="70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2C89F79A-643D-4484-BF66-6C4370A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264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F93BC7D-D82F-4DD5-918F-BCBFB89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AgentTeams tests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CC93DC6-28C0-4F9B-B7C4-BD396FA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38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E479CC87-ADA5-4A39-BD40-A65FE7E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PostgreSQL 16.14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3BB2495C-F205-42B4-B05D-3C26BB1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PENDING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EB44E2F-FCF2-4A84-8618-9E00858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workflow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41365FFB-CBA0-4EE3-ACC9-7E6A507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official infra / Matrix 已 LIVE_LOCAL；科研 workflow、GPU、Nexa / PITR 未运行。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EB67261-E2DD-427E-A8FD-4A6A561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006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D74E638-ADAB-4296-BB5B-053479E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482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attack scenarios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D3C3CD25-DA3A-418E-B500-C19D641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00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3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CDE96AC-B445-4E84-A2B4-EE09AC8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248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profiles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10AC64-7E61-4FAD-B00B-21849B5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0006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ORACLE</a:t>
            </a:r>
            <a:endParaRPr sz="150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4B44A51-51A3-4212-AE0B-FF3B4E0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48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independent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1C15153B-5D26-422D-B1E9-3182E43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dev gate 证明 local core；release gate 无 live target 时预期非零退出。</a:t>
            </a:r>
            <a:endParaRPr sz="68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75A28AF-71E2-42FF-8991-E182A99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912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证据命令：make test · pytest tests/postgres · freeze_live_local_proof.py · make package</a:t>
            </a:r>
            <a:endParaRPr sz="7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331711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38AD5C5-917F-46F3-9DCF-9C2E0660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Failure first · Recovery is evidence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E61B3-10CF-4C36-B145-AE61804D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异常不是旁支：它必须改变 route、state 或 release verdict</a:t>
            </a:r>
            <a:endParaRPr sz="21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8819468-BC3E-4475-B561-1335A304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1000125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8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每个 fault 都由 corpus 定义，adapter 输出受独立 oracle 与 schema-aware trace verifier 双重检查。</a:t>
            </a:r>
            <a:endParaRPr sz="88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89BCABAD-3B60-433D-B356-EC86DB83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超时不伪装成功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8F5C6-D460-4FAC-8053-4BD5010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A · TIMEOUT</a:t>
            </a:r>
            <a:endParaRPr sz="66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8C5B8A03-210F-4C04-8EC2-3175110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7E506D3B-798B-428E-8D46-65F4B74B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并发冲突需显式解决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D92AFA89-6511-4AAA-924E-2628D520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33600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B · CONFLICT</a:t>
            </a:r>
            <a:endParaRPr sz="660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812FBDFB-A1C0-4770-B72F-FB20DAF2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12A0FF05-3C37-4962-BBDD-6E2145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重启后不丢 causal chain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34F95F5-1FC5-45C4-8990-243D87A9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BFD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C · CRASH / RESUME</a:t>
            </a:r>
            <a:endParaRPr sz="66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9FC54E1A-3883-449E-B20C-B084F18D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791F898-7E78-47C1-AC05-A782C686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52900"/>
            <a:ext cx="5353050" cy="1914525"/>
          </a:xfrm>
          <a:prstGeom xmlns:a="http://schemas.openxmlformats.org/drawingml/2006/main" prst="roundRect">
            <a:avLst>
              <a:gd name="adj" fmla="val 7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52400" tIns="428625" rIns="15240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篡改与重放直接阻断</a:t>
            </a:r>
            <a:endParaRPr sz="11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DCA470DF-79AB-4F78-BE92-CDE46E1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76725"/>
            <a:ext cx="16192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D · TAMPER / REPLAY</a:t>
            </a:r>
            <a:endParaRPr sz="66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直接连接符 49">
            <a:extLst xmlns:a="http://schemas.openxmlformats.org/drawingml/2006/main">
              <a:ext uri="{FF2B5EF4-FFF2-40B4-BE49-F238E27FC236}">
                <a16:creationId xmlns:a16="http://schemas.microsoft.com/office/drawing/2014/main" id="{B0FE994B-AB66-4B0C-8204-ABAD25EC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504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D292426-B19B-4E58-A8C4-1FAA5E31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deadline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32374D2-D6B1-4C46-B3DB-07D7B07C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subprocess timeout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2CEC126-BFC6-4464-AE78-C86111B3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cancel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087DCE59-F96A-4A89-BC3E-E2661384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structured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189AF905-1D1E-40D8-AB8E-975BE602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reassign</a:t>
            </a:r>
            <a:endParaRPr sz="15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9ABC1DD-331B-42D5-8BBB-FA99CD20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observable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72D4D76E-63F0-47FF-8DFA-0F245F05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worker 卡住 → timeout event → bounded reassign；没有终态 trace 就不能 PASS。</a:t>
            </a:r>
            <a:endParaRPr sz="72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3D757981-4287-4861-83EA-FE1B5F43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409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83767E5F-10C5-4435-A078-32FE9FFA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optimistic conflict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250CCD3-5A63-4620-8FBC-8A42815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replan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930B5B39-DAA7-413A-9134-029B9AFB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generation++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49549CD-B051-4888-BE5C-4911CD50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hash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F5CB65D6-43F2-4235-AFE8-80C2C29D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preserved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D4E6FB19-455C-43D0-A8EA-61FC892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575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no overwrite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AF2E7C88-94C1-44D3-8B36-67EC3983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same run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441D0559-2C72-4E83-9EA5-F8E4AF90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385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两条并发链由事务 / expected_version 执法；旧 generation 不可静默覆盖新计划。</a:t>
            </a:r>
            <a:endParaRPr sz="70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2C89F79A-643D-4484-BF66-6C4370A6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检查点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FF93BC7D-D82F-4DD5-918F-BCBFB89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persist first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8CC93DC6-28C0-4F9B-B7C4-BD396FA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restart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E479CC87-ADA5-4A39-BD40-A65FE7E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fresh process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3BB2495C-F205-42B4-B05D-3C26BB13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0006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resume</a:t>
            </a:r>
            <a:endParaRPr sz="150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EB44E2F-FCF2-4A84-8618-9E00858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same trace refs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41365FFB-CBA0-4EE3-ACC9-7E6A507F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SQLite dev 与 PostgreSQL profile 都要求重启后读取 authoritative state。</a:t>
            </a:r>
            <a:endParaRPr sz="70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EB67261-E2DD-427E-A8FD-4A6A5617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0006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nonce</a:t>
            </a:r>
            <a:endParaRPr sz="150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2D74E638-ADAB-4296-BB5B-053479E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4827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replay rejected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D3C3CD25-DA3A-418E-B500-C19D641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0062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digest</a:t>
            </a:r>
            <a:endParaRPr sz="150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CDE96AC-B445-4E84-A2B4-EE09AC8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248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tamper detected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610AC64-7E61-4FAD-B00B-21849B5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0006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Decision</a:t>
            </a:r>
            <a:endParaRPr sz="1500" b="1" i="0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94B44A51-51A3-4212-AE0B-FF3B4E08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482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9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withheld</a:t>
            </a:r>
            <a:endParaRPr sz="79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1C15153B-5D26-422D-B1E9-3182E430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93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8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错误本身进入 evidence bundle；error / omission / timeout 都计入失败率。</a:t>
            </a:r>
            <a:endParaRPr sz="68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675A28AF-71E2-42FF-8991-E182A99E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61912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0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同一 correlation：scenario_id · project/task · rxp run/cell · invocation · evidence root · verdict</a:t>
            </a:r>
            <a:endParaRPr sz="70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8331711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C6F0F8-13BF-426B-BD07-4E2DB554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可迁移 · Database &amp; deployment profiles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724FD2-4947-41BE-B616-A213D341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817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1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协议不绑定某个模型；状态语义在 local 与 production profile 中保持一致</a:t>
            </a:r>
            <a:endParaRPr sz="2100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58C9ADC-CD90-4316-B6C7-A2972B1E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2CCD4B7-6EE4-4914-816E-B563E675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DUAL</a:t>
            </a:r>
            <a:endParaRPr sz="18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2C9DBB90-66EB-4982-AEFB-5CE4E2B4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8250"/>
            <a:ext cx="96202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SQLite 仅作 dev fallback；PostgreSQL 生产语义已验证；TDSQL Nexa / Agent Memory 云端仍待实证。</a:t>
            </a:r>
            <a:endParaRPr sz="975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D5BFE9B5-0C44-47E1-BC72-E1671FA7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11144250" cy="4000500"/>
          </a:xfrm>
          <a:prstGeom xmlns:a="http://schemas.openxmlformats.org/drawingml/2006/main" prst="roundRect">
            <a:avLst>
              <a:gd name="adj" fmla="val 381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241CC96-BF4A-4CCF-9C37-954CB0A8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09800"/>
            <a:ext cx="3238500" cy="36004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42875" tIns="561975" rIns="14287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可复用控制内核</a:t>
            </a:r>
            <a:endParaRPr sz="11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6CA898D6-D9F4-4B4B-A990-339895BA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857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RXP + AGENTTEAMS + SKILLS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直接连接符 41">
            <a:extLst xmlns:a="http://schemas.openxmlformats.org/drawingml/2006/main">
              <a:ext uri="{FF2B5EF4-FFF2-40B4-BE49-F238E27FC236}">
                <a16:creationId xmlns:a16="http://schemas.microsoft.com/office/drawing/2014/main" id="{C8FF61E6-AB23-478A-B687-2472F3C0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5702404-F390-4961-B2F1-9063E277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209800"/>
            <a:ext cx="3238500" cy="36004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 lIns="142875" tIns="561975" rIns="14287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场景只替换 schema / handler</a:t>
            </a:r>
            <a:endParaRPr sz="11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85E574DB-7EAD-4084-9DC7-45F48FE6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857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PORTABLE RECIPES</a:t>
            </a:r>
            <a:endParaRPr sz="655" b="1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5CCE3FFD-9BD9-4B41-A9EF-84ACAC20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051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60A8EB61-9BD0-4BB5-9E7D-005DB8CD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09800"/>
            <a:ext cx="3971925" cy="3600450"/>
          </a:xfrm>
          <a:prstGeom xmlns:a="http://schemas.openxmlformats.org/drawingml/2006/main" prst="roundRect">
            <a:avLst>
              <a:gd name="adj" fmla="val 42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42875" tIns="561975" rIns="14287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数据底座分级</a:t>
            </a:r>
            <a:endParaRPr sz="11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9E119B21-DA77-4D5A-8978-7ED42EE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43150"/>
            <a:ext cx="1857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INTEGRATION TRUTH</a:t>
            </a:r>
            <a:endParaRPr sz="65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直接连接符 47">
            <a:extLst xmlns:a="http://schemas.openxmlformats.org/drawingml/2006/main">
              <a:ext uri="{FF2B5EF4-FFF2-40B4-BE49-F238E27FC236}">
                <a16:creationId xmlns:a16="http://schemas.microsoft.com/office/drawing/2014/main" id="{5E4C2D1E-86E5-4CA6-B998-46D8E719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05150"/>
            <a:ext cx="368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F0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747C5908-0BA7-44AF-8990-34C1DE91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3751AC06-E475-4CD8-B79D-40EBEDB1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Model training: arms × seeds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F55664DE-1FBF-4915-921F-3BC6E6D1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CF3A273F-803C-4DD4-8322-64C23041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Data pipeline: source × transform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8CE97DE0-4708-4167-8380-F783E1AE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3677B8D2-1218-4D7A-91DD-DC24FDCF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Robotics: policy × scene × seed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E601D103-00FA-476D-9F28-83C5FAEC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AB6A1986-ACB6-4298-B904-91622EAC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Eval: model × benchmark slice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FE72D818-D3CA-4402-AAA8-D1130790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81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B4D35558-9493-4847-87F5-D069C9AE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Regulated workflow: maker/checker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40889D80-E330-4970-AD6D-B42C3F9E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85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762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65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BC3A526-6E98-41E5-A9CD-A0FDD7AB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62550"/>
            <a:ext cx="2543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AutoResearch: hypothesis queue</a:t>
            </a:r>
            <a:endParaRPr sz="71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F7E7A7CB-F0C0-4947-A6F7-16DFAAA0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53075"/>
            <a:ext cx="2905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共同对象：Intent · Grant · Receipt · Evidence · Decision · MatrixLedger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350DB61D-E0CD-497F-A621-19EB17EC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2861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领域 metric / evaluator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819E8E02-C24E-45B3-80A2-F358418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8612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由 Skill handler 注入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981C5E46-8C66-457C-A413-8BBDC288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6195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4E29F68B-ED3D-42BC-A0E5-7867362C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资源 adapter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690A2DC3-BBD2-4D71-8B23-76B75491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338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local / Slurm / K8s / cloud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直接连接符 66">
            <a:extLst xmlns:a="http://schemas.openxmlformats.org/drawingml/2006/main">
              <a:ext uri="{FF2B5EF4-FFF2-40B4-BE49-F238E27FC236}">
                <a16:creationId xmlns:a16="http://schemas.microsoft.com/office/drawing/2014/main" id="{8CF7F671-B868-4C1F-A53E-D18E886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067175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BB79993-3C02-47B9-8DF4-B44976B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8147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证据 taxonomy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FE262294-D558-47F6-9D2D-4593EF3B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8147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按合规场景扩展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088C20F8-0B76-4B5B-9090-7DB597AB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148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B90EEF4-2328-4732-98D9-4FA136B9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291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人类权限线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B052C-FE19-4717-A228-909531CB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291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R0–R3 policy 配置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直接连接符 72">
            <a:extLst xmlns:a="http://schemas.openxmlformats.org/drawingml/2006/main">
              <a:ext uri="{FF2B5EF4-FFF2-40B4-BE49-F238E27FC236}">
                <a16:creationId xmlns:a16="http://schemas.microsoft.com/office/drawing/2014/main" id="{9992F55E-0019-430F-B239-38B4048B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962525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9E2F0"/>
            </a:solidFill>
            <a:prstDash val="solid"/>
          </a:ln>
        </p:spPr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7743DBA3-6102-4792-87FA-CA4D32A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0768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结论规则</a:t>
            </a:r>
            <a:endParaRPr sz="71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A03ED717-5EE8-42C2-998F-6D82FB9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7682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acceptance schema versioned</a:t>
            </a:r>
            <a:endParaRPr sz="67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3D92E58D-7112-4AEC-BB80-C57BDB7C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553075"/>
            <a:ext cx="2895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4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协议层不读取 secret；执行 adapter 只接短期凭证</a:t>
            </a:r>
            <a:endParaRPr sz="645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6EB93FD0-15CD-46DA-8479-3AEBADD7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已验证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6420AC64-7EFC-4F85-B49E-B3E55CE3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PostgreSQL 16 · 38 integration tests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B873569D-4AC0-432D-A577-DC58495E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290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已实现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0987A116-DFC1-4580-BBD2-BA9EB01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29025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4 roles · RLS · append-only · LISTEN/NOTIFY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B351FABD-F0D8-484B-8B4D-E282A118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未验证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0CF4B22C-C4C5-4B7F-9409-31E606D9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TDSQL Nexa · Agent Memory · PITR · cloud IAM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EE7D2F01-FD43-4C7B-8269-D6A2BF0E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71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迁移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E0B6F3AE-3438-43C6-B3E0-15C13380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71975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per-test schema · checksummed apply / verify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4CAA6CD2-6C12-4287-9A1A-6B2374B7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34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回退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E421CE5F-AD02-4EDC-A75E-21387C71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43450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explicit SQLite dev only · PG never silent fallback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0EC6BC3-C808-4A85-8CAA-94FEF6A5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14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6668">
            <a:solidFill>
              <a:srgbClr val="2563E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目标</a:t>
            </a:r>
            <a:endParaRPr sz="67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B1A63712-0854-4D83-8354-36935E4A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14925"/>
            <a:ext cx="30099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9E2F0"/>
            </a:solidFill>
            <a:prstDash val="solid"/>
          </a:ln>
        </p:spPr>
        <p:txBody>
          <a:bodyPr xmlns:a="http://schemas.openxmlformats.org/drawingml/2006/main" lIns="66675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Nexa preflight + restore / failover drill</a:t>
            </a:r>
            <a:endParaRPr sz="675" b="0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192F76DF-4B25-4B7C-8D7A-36B8766A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530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所有 profile 共用相同 state / idempotency / evidence invariants；差异只在 capability disclosure</a:t>
            </a:r>
            <a:endParaRPr sz="65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15870962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8F51AC9-E9C1-469C-92B4-9081228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开源 · Claim ledger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3930BA-3388-4FD1-BAEF-65D94FC4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每一条判断都能落到命令、文件、artifact 或明确的 NOT RUN</a:t>
            </a:r>
            <a:endParaRPr sz="20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AB272DA-0D45-43C0-B598-0A3A0B35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8BD6755-16E5-4063-8240-EABFB82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990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6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Apache-2.0 核心 + schemas + fixtures + benchmark；私有数据、密钥和真实 GPU 权限不进仓库。</a:t>
            </a:r>
            <a:endParaRPr sz="96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3991F543-D958-4BCB-9B7A-CE4DA3A7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28825"/>
            <a:ext cx="5381625" cy="3990975"/>
          </a:xfrm>
          <a:prstGeom xmlns:a="http://schemas.openxmlformats.org/drawingml/2006/main" prst="roundRect">
            <a:avLst>
              <a:gd name="adj" fmla="val 381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161925" tIns="428625" rIns="161925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现在拥有什么</a:t>
            </a:r>
            <a:endParaRPr sz="12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57757CFB-0540-45BD-BB5A-4F14101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29540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EVIDENCE LADDER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968A5B8D-27AC-48A1-A7D9-3044340B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50577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5758DCD4-E3D4-4FF4-8B33-F0CE673D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3370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已运行</a:t>
            </a:r>
            <a:endParaRPr sz="6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7B7AF80-E280-4C50-922A-E7FCC060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905125"/>
            <a:ext cx="3800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local control plane + RXP cockpit</a:t>
            </a:r>
            <a:endParaRPr sz="80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440CA1B-C191-495A-9E76-E18B1AA7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90875"/>
            <a:ext cx="4752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API / Web / RXP / Skill registry / strict benchmark；静态页面不冒充后端调用。</a:t>
            </a:r>
            <a:endParaRPr sz="65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4AF317DC-9987-471D-994F-D6F796B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50577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6FA9BA64-76FB-4016-8DC6-DD10637E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6715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已验证</a:t>
            </a:r>
            <a:endParaRPr sz="61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1E10AD4-5F99-4C3B-A6FF-2C25392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838575"/>
            <a:ext cx="3800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PostgreSQL 16 + AgentTeams LIVE_LOCAL</a:t>
            </a:r>
            <a:endParaRPr sz="80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547FF777-BE94-4933-8DEC-3DB0C456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24325"/>
            <a:ext cx="4752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PG 38 + bridge 264；Controller / Manager / 4 Workers / Matrix smoke 已联通。</a:t>
            </a:r>
            <a:endParaRPr sz="65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9F1D2208-9D63-4EA7-86B6-43A8CBDC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505777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D21FE314-427F-4650-86D5-3A3E3DAB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00600"/>
            <a:ext cx="876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D97706"/>
                </a:solidFill>
                <a:latin typeface="Noto Sans CJK SC"/>
                <a:ea typeface="Noto Sans CJK SC"/>
                <a:cs typeface="Noto Sans CJK SC"/>
              </a:rPr>
              <a:t>仍未运行</a:t>
            </a:r>
            <a:endParaRPr sz="615" b="1">
              <a:solidFill>
                <a:srgbClr val="D9770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B175949F-9FD1-4BEC-8587-0FA57D84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72025"/>
            <a:ext cx="3800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05" b="1" i="0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科研 workflow · GPU · Nexa / PITR</a:t>
            </a:r>
            <a:endParaRPr sz="805" b="1" i="0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2D13400D-5A89-46A5-8872-0BAE4525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57775"/>
            <a:ext cx="47529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Project 的 8 nodes 均 PENDING；没有 GPU receipt 与 same-run trace 就不写成闭环成功。</a:t>
            </a:r>
            <a:endParaRPr sz="65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F9F19012-2C1F-4EAB-BC00-75F85F90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0" b="1" i="0">
                <a:solidFill>
                  <a:srgbClr val="DC2626"/>
                </a:solidFill>
                <a:latin typeface="Noto Sans CJK SC"/>
                <a:ea typeface="Noto Sans CJK SC"/>
                <a:cs typeface="Noto Sans CJK SC"/>
              </a:rPr>
              <a:t>SYNTHETIC：托管 EgoLite 指标；Fashion-MNIST adapter 已实现，但 live origin 仍 UNVERIFIED。</a:t>
            </a:r>
            <a:endParaRPr sz="670" b="1" i="0">
              <a:solidFill>
                <a:srgbClr val="DC262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25ACF03F-7C16-43A9-AF12-4EDF318D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28825"/>
            <a:ext cx="5400675" cy="3990975"/>
          </a:xfrm>
          <a:prstGeom xmlns:a="http://schemas.openxmlformats.org/drawingml/2006/main" prst="roundRect">
            <a:avLst>
              <a:gd name="adj" fmla="val 3819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  <p:txBody>
          <a:bodyPr xmlns:a="http://schemas.openxmlformats.org/drawingml/2006/main" lIns="171450" tIns="428625" rIns="1714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复赛验收梯子</a:t>
            </a:r>
            <a:endParaRPr sz="12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73272EF5-C138-4B34-935D-500D6D2A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12001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REPRODUCTION PATH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椭圆 55">
            <a:extLst xmlns:a="http://schemas.openxmlformats.org/drawingml/2006/main">
              <a:ext uri="{FF2B5EF4-FFF2-40B4-BE49-F238E27FC236}">
                <a16:creationId xmlns:a16="http://schemas.microsoft.com/office/drawing/2014/main" id="{898E3509-9A30-4F4C-A0A5-19D4AB3D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7" name="直接连接符 56">
            <a:extLst xmlns:a="http://schemas.openxmlformats.org/drawingml/2006/main">
              <a:ext uri="{FF2B5EF4-FFF2-40B4-BE49-F238E27FC236}">
                <a16:creationId xmlns:a16="http://schemas.microsoft.com/office/drawing/2014/main" id="{68FCA4FF-55E7-4F92-A4E7-C6775B56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765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B19B1B4B-4967-48D0-9F81-209EEE11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60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32637A15-F34E-42E0-8A45-F36311C1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make test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054BE70E-CAF4-4F00-B813-80BEB14B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09875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LOCAL</a:t>
            </a:r>
            <a:endParaRPr sz="600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42AA6307-36ED-4847-9E13-A4F247A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289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unit / contract / negative controls / static checks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椭圆 61">
            <a:extLst xmlns:a="http://schemas.openxmlformats.org/drawingml/2006/main">
              <a:ext uri="{FF2B5EF4-FFF2-40B4-BE49-F238E27FC236}">
                <a16:creationId xmlns:a16="http://schemas.microsoft.com/office/drawing/2014/main" id="{F453072B-C3A1-4E09-BA71-B9A71163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F8B078E1-CE6A-4FE0-A7F5-9B2A5804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00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2B4133D9-E5DF-43D9-B8B5-86E0B1DC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62325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60" b="1" i="0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8664F84-A5C4-4CDA-A351-1C34303B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4327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demo-proof + acceptance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FFB799F0-5849-4061-8008-C0937D72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333750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BUNDLE</a:t>
            </a:r>
            <a:endParaRPr sz="600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15DE07E-6522-47AF-B4A4-5BEF761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5282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ledger · raw metrics · Matrix · trace · Decision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8" name="椭圆 67">
            <a:extLst xmlns:a="http://schemas.openxmlformats.org/drawingml/2006/main">
              <a:ext uri="{FF2B5EF4-FFF2-40B4-BE49-F238E27FC236}">
                <a16:creationId xmlns:a16="http://schemas.microsoft.com/office/drawing/2014/main" id="{56450D94-CABB-450A-982D-B7684143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B507E1EF-2DC6-4EE6-BCEB-9B211760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243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F983AF13-0ED1-484F-9735-8AB03239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6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224E586-02A6-4AC5-AC76-035777D9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target release gate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2" name="圆角矩形 71">
            <a:extLst xmlns:a="http://schemas.openxmlformats.org/drawingml/2006/main">
              <a:ext uri="{FF2B5EF4-FFF2-40B4-BE49-F238E27FC236}">
                <a16:creationId xmlns:a16="http://schemas.microsoft.com/office/drawing/2014/main" id="{8CDB2D5C-EF3E-4E0A-A94C-965348EE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57625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FAIL CLOSED</a:t>
            </a:r>
            <a:endParaRPr sz="6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EF980F15-49A8-4C43-A002-EE342072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无 live target → non-zero / SKIP evidence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4" name="椭圆 73">
            <a:extLst xmlns:a="http://schemas.openxmlformats.org/drawingml/2006/main">
              <a:ext uri="{FF2B5EF4-FFF2-40B4-BE49-F238E27FC236}">
                <a16:creationId xmlns:a16="http://schemas.microsoft.com/office/drawing/2014/main" id="{02B4C68C-4F1C-4415-9FFF-EA544708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</p:sp>
      <p:sp>
        <p:nvSpPr>
          <p:cNvPr id="75" name="直接连接符 74">
            <a:extLst xmlns:a="http://schemas.openxmlformats.org/drawingml/2006/main">
              <a:ext uri="{FF2B5EF4-FFF2-40B4-BE49-F238E27FC236}">
                <a16:creationId xmlns:a16="http://schemas.microsoft.com/office/drawing/2014/main" id="{A0C92C08-1641-471E-87BF-4F9EA36F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482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566F"/>
            </a:solidFill>
            <a:prstDash val="solid"/>
          </a:ln>
        </p:spPr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5C7F4B17-125C-430F-8F51-57E12864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10075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60" b="1" i="0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13E14C89-5358-4832-9053-55F4A9A7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91025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operator live bundle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31C18D04-6599-44EC-B9FE-80368C30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81500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08AFC7"/>
                </a:solidFill>
                <a:latin typeface="Noto Sans CJK SC"/>
                <a:ea typeface="Noto Sans CJK SC"/>
                <a:cs typeface="Noto Sans CJK SC"/>
              </a:rPr>
              <a:t>EXTERNAL</a:t>
            </a:r>
            <a:endParaRPr sz="600" b="1">
              <a:solidFill>
                <a:srgbClr val="08AFC7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7BEA8E3C-4307-4812-BE11-AA41D02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00575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官方 trace + raw metrics + origin attestation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0" name="椭圆 79">
            <a:extLst xmlns:a="http://schemas.openxmlformats.org/drawingml/2006/main">
              <a:ext uri="{FF2B5EF4-FFF2-40B4-BE49-F238E27FC236}">
                <a16:creationId xmlns:a16="http://schemas.microsoft.com/office/drawing/2014/main" id="{E8BA6B38-D142-4359-83F9-CB384D3A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B2416A07-0A5A-4929-99E5-F2AB7F9C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33950"/>
            <a:ext cx="942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1" i="0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660" b="1" i="0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944568C6-EEA9-4362-8434-FA7944C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14900"/>
            <a:ext cx="1866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6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freeze submission</a:t>
            </a:r>
            <a:endParaRPr sz="765" b="1" i="0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3" name="圆角矩形 82">
            <a:extLst xmlns:a="http://schemas.openxmlformats.org/drawingml/2006/main">
              <a:ext uri="{FF2B5EF4-FFF2-40B4-BE49-F238E27FC236}">
                <a16:creationId xmlns:a16="http://schemas.microsoft.com/office/drawing/2014/main" id="{2F3E7107-406B-42AD-A40E-A3A2670B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05375"/>
            <a:ext cx="619125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0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00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SHA-256</a:t>
            </a:r>
            <a:endParaRPr sz="600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B1A4C1EC-9383-4193-9B68-69F8DE15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244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AFBDD3"/>
                </a:solidFill>
                <a:latin typeface="Noto Sans CJK SC"/>
                <a:ea typeface="Noto Sans CJK SC"/>
                <a:cs typeface="Noto Sans CJK SC"/>
              </a:rPr>
              <a:t>PPT/PDF · demo · package · evidence index</a:t>
            </a:r>
            <a:endParaRPr sz="655" b="0" i="0">
              <a:solidFill>
                <a:srgbClr val="AFBDD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1BB1512B-4DDF-48CB-A2C1-8DE3664C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62600"/>
            <a:ext cx="5057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304967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64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45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Pages 提供 LIVE_BROWSER 专家规划 + synthetic replay；AgentTeams / PostgreSQL 由 LIVE_LOCAL 证据证明</a:t>
            </a:r>
            <a:endParaRPr sz="645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0315366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619481-4FE0-4EF0-8965-ED74942F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Demo · 8 分钟证据路径</a:t>
            </a:r>
            <a:endParaRPr sz="1200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8D4613-7B45-4803-B821-F1CB22CC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7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6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请直接复现，不必相信 PPT</a:t>
            </a:r>
            <a:endParaRPr sz="206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C50F6C7-168C-4A29-BB47-577E384E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90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141C6E2-EAA6-4765-84E2-32EE0AB6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57300"/>
            <a:ext cx="9906000" cy="23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6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60" b="1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吕新科｜北京邮电大学 · 智能科学与技术</a:t>
            </a:r>
            <a:endParaRPr sz="960" b="1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AF1FCB02-0471-4BD8-9C20-EECAD73B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24075"/>
            <a:ext cx="5381625" cy="3914775"/>
          </a:xfrm>
          <a:prstGeom xmlns:a="http://schemas.openxmlformats.org/drawingml/2006/main" prst="roundRect">
            <a:avLst>
              <a:gd name="adj" fmla="val 3893"/>
            </a:avLst>
          </a:prstGeom>
          <a:solidFill xmlns:a="http://schemas.openxmlformats.org/drawingml/2006/main">
            <a:srgbClr val="0C1B33"/>
          </a:solidFill>
          <a:ln xmlns:a="http://schemas.openxmlformats.org/drawingml/2006/main" w="0">
            <a:solidFill>
              <a:srgbClr val="0C1B33"/>
            </a:solidFill>
            <a:prstDash val="solid"/>
          </a:ln>
        </p:spPr>
        <p:txBody>
          <a:bodyPr xmlns:a="http://schemas.openxmlformats.org/drawingml/2006/main" lIns="171450" tIns="476250" rIns="1714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演示节奏</a:t>
            </a:r>
            <a:endParaRPr sz="142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F636A2A3-24A2-4065-BAF4-310706F0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76475"/>
            <a:ext cx="1504950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243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rPr>
              <a:t>ONE RUN · ONE CLOSURE</a:t>
            </a:r>
            <a:endParaRPr sz="675" b="1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A5163239-2B75-4785-9303-439771B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575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0:00–1:00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471FE017-CB4C-4428-974D-B020CD2C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718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DAD96BE-4B9A-40DF-80CE-F1B2EBF0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861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痛点 + 初赛反馈：为什么需要 RXP。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DBECC485-8396-46C2-AA98-8316BD85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052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1:00–3:00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D852360B-6B27-4646-8B07-4ACBB769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8195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F956CE9-7B02-42FD-9905-43E5A403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338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展示 AgentTeams LIVE_LOCAL、冻结 workflow 与 R2 授权合同。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DE8AE771-E6B7-4360-9997-01377E5D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529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3:00–5:00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C5A9A1D3-C9DE-437F-B508-F99A49F8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672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8AFC7"/>
          </a:solidFill>
          <a:ln xmlns:a="http://schemas.openxmlformats.org/drawingml/2006/main" w="0">
            <a:solidFill>
              <a:srgbClr val="08AFC7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355DF36-6ACC-4BF2-BF83-8A8761EF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815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步进 synthetic run：raw metrics → eval → reviewer → Decision。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E9C8AB68-4D13-4956-9C80-D9A485D7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00625"/>
            <a:ext cx="50387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84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42925" tIns="66675" rIns="952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5:00–8:00</a:t>
            </a:r>
            <a:endParaRPr sz="7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5B5A1651-9EC0-4A07-9ACD-CF97A3B4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14925"/>
            <a:ext cx="323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6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A540E08A-552D-4AE8-B011-E0FC767A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29225"/>
            <a:ext cx="432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55" b="0" i="0">
                <a:solidFill>
                  <a:srgbClr val="B7C5DA"/>
                </a:solidFill>
                <a:latin typeface="Noto Sans CJK SC"/>
                <a:ea typeface="Noto Sans CJK SC"/>
                <a:cs typeface="Noto Sans CJK SC"/>
              </a:rPr>
              <a:t>PG 38/38、Matrix proof、recovery 与 NOT RUN boundary。</a:t>
            </a:r>
            <a:endParaRPr sz="655" b="0" i="0">
              <a:solidFill>
                <a:srgbClr val="B7C5D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4FF27F42-5EB7-432E-AB9F-CA459086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715000"/>
            <a:ext cx="5038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FF6B35"/>
                </a:solidFill>
                <a:latin typeface="Noto Sans CJK SC"/>
                <a:ea typeface="Noto Sans CJK SC"/>
                <a:cs typeface="Noto Sans CJK SC"/>
              </a:defRPr>
            </a:pPr>
            <a:endParaRPr sz="680" b="1" i="0">
              <a:solidFill>
                <a:srgbClr val="FF6B35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2A246DC2-4EAE-42CC-9B35-F4973C8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24075"/>
            <a:ext cx="5400675" cy="3914775"/>
          </a:xfrm>
          <a:prstGeom xmlns:a="http://schemas.openxmlformats.org/drawingml/2006/main" prst="roundRect">
            <a:avLst>
              <a:gd name="adj" fmla="val 389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E2F0"/>
            </a:solidFill>
            <a:prstDash val="solid"/>
          </a:ln>
        </p:spPr>
        <p:txBody>
          <a:bodyPr xmlns:a="http://schemas.openxmlformats.org/drawingml/2006/main" lIns="171450" tIns="476250" rIns="1714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评委复现：一个入口，三步复现</a:t>
            </a:r>
            <a:endParaRPr sz="142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AF1F5416-942F-4382-B65C-414C905E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76475"/>
            <a:ext cx="1095375" cy="219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JUDGE REPLAY</a:t>
            </a:r>
            <a:endParaRPr sz="67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B24AFD4A-167E-4F29-9BB9-65136A82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5057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txBody>
          <a:bodyPr xmlns:a="http://schemas.openxmlformats.org/drawingml/2006/main" lIns="1314450" tIns="85725" rIns="1333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① 打开 static cockpit</a:t>
            </a:r>
            <a:endParaRPr sz="7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E242D207-BD12-4260-9BEB-BDD7EEC3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19450"/>
            <a:ext cx="10668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EB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7C3AED"/>
                </a:solidFill>
                <a:latin typeface="Noto Sans CJK SC"/>
                <a:ea typeface="Noto Sans CJK SC"/>
                <a:cs typeface="Noto Sans CJK SC"/>
              </a:rPr>
              <a:t>SEE</a:t>
            </a:r>
            <a:endParaRPr sz="615" b="1">
              <a:solidFill>
                <a:srgbClr val="7C3AED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BF42A59-42EF-4C38-BFAC-AB4DB609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042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确认 STATIC REPLAY / CONTRACT IMPLEMENTED / EXTERNAL NOT RUN</a:t>
            </a:r>
            <a:endParaRPr sz="6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24DFC4B7-0E25-4799-8C56-D6ED6D23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86200"/>
            <a:ext cx="5057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 lIns="1314450" tIns="85725" rIns="1333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② 运行 local proof</a:t>
            </a:r>
            <a:endParaRPr sz="7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930660E0-8063-4CCE-B547-01109C46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00500"/>
            <a:ext cx="10668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VERIFY</a:t>
            </a:r>
            <a:endParaRPr sz="615" b="1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B8C98D3-9E74-4A43-8929-F3217527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8147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make test · PostgreSQL 38 · LIVE_LOCAL proof</a:t>
            </a:r>
            <a:endParaRPr sz="6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0C960971-095A-411C-ADDF-48508647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67250"/>
            <a:ext cx="5057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59669"/>
            </a:solidFill>
            <a:prstDash val="solid"/>
          </a:ln>
        </p:spPr>
        <p:txBody>
          <a:bodyPr xmlns:a="http://schemas.openxmlformats.org/drawingml/2006/main" lIns="1314450" tIns="85725" rIns="133350" bIns="38100" anchor="t"/>
          <a:lstStyle xmlns:a="http://schemas.openxmlformats.org/drawingml/2006/main"/>
          <a:p xmlns:a="http://schemas.openxmlformats.org/drawingml/2006/main">
            <a:pPr algn="l">
              <a:buNone/>
              <a:def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75" b="1">
                <a:solidFill>
                  <a:srgbClr val="1B1F3B"/>
                </a:solidFill>
                <a:latin typeface="Noto Sans CJK SC"/>
                <a:ea typeface="Noto Sans CJK SC"/>
                <a:cs typeface="Noto Sans CJK SC"/>
              </a:rPr>
              <a:t>③ 检查 release gate</a:t>
            </a:r>
            <a:endParaRPr sz="775" b="1">
              <a:solidFill>
                <a:srgbClr val="1B1F3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0BC7E1B3-1BD8-4C26-8E76-634191D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81550"/>
            <a:ext cx="10668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4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15" b="1">
                <a:solidFill>
                  <a:srgbClr val="059669"/>
                </a:solidFill>
                <a:latin typeface="Noto Sans CJK SC"/>
                <a:ea typeface="Noto Sans CJK SC"/>
                <a:cs typeface="Noto Sans CJK SC"/>
              </a:rPr>
              <a:t>TRUST</a:t>
            </a:r>
            <a:endParaRPr sz="615" b="1">
              <a:solidFill>
                <a:srgbClr val="059669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CE5E1A1A-FEC1-4099-8DBF-1B9D05AD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62525"/>
            <a:ext cx="358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75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无可认证 origin 时禁止 live claim；检查 frozen acceptance bundle</a:t>
            </a:r>
            <a:endParaRPr sz="675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E0775CE7-AC17-458A-8A62-432586E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95925"/>
            <a:ext cx="505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15" b="1" i="0">
                <a:solidFill>
                  <a:srgbClr val="2563EB"/>
                </a:solidFill>
                <a:latin typeface="Noto Sans CJK SC"/>
                <a:ea typeface="Noto Sans CJK SC"/>
                <a:cs typeface="Noto Sans CJK SC"/>
              </a:rPr>
              <a:t>附包：judge-feedback-implementation.md · acceptance bundle · evidence index · benchmark artifacts</a:t>
            </a:r>
            <a:endParaRPr sz="715" b="1" i="0">
              <a:solidFill>
                <a:srgbClr val="2563E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B4DBAA4F-99A8-47C4-947E-40247621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743575"/>
            <a:ext cx="5057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66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60" b="0" i="0">
                <a:solidFill>
                  <a:srgbClr val="64748B"/>
                </a:solidFill>
                <a:latin typeface="Noto Sans CJK SC"/>
                <a:ea typeface="Noto Sans CJK SC"/>
                <a:cs typeface="Noto Sans CJK SC"/>
              </a:rPr>
              <a:t>EgoAgentOS / RXP：让 AI 不只会做实验，而是对实验的权限、完整性与结论负责。</a:t>
            </a:r>
            <a:endParaRPr sz="660" b="0" i="0">
              <a:solidFill>
                <a:srgbClr val="64748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  <p:extLst>
      <p:ext uri="{BB962C8B-B14F-4D97-AF65-F5344CB8AC3E}">
        <p14:creationId xmlns:p14="http://schemas.microsoft.com/office/powerpoint/2010/main" val="201946652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2026-09-03T07:20:52.5510000Z</dcterms:created>
  <dcterms:modified xsi:type="dcterms:W3CDTF">2026-09-03T07:20:52.5510000Z</dcterms:modified>
</coreProperties>
</file>